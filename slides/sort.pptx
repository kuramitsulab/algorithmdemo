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68112"/>
            <a:ext cx="858012" cy="6583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26108" y="4919472"/>
            <a:ext cx="858012" cy="120700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20696" y="5687568"/>
            <a:ext cx="858012" cy="4389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15284" y="4370832"/>
            <a:ext cx="858012" cy="17556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09872" y="5138928"/>
            <a:ext cx="858012" cy="98755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04460" y="4041648"/>
            <a:ext cx="858012" cy="2084832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9048" y="4700016"/>
            <a:ext cx="858012" cy="1426464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93636" y="5248656"/>
            <a:ext cx="858012" cy="87782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88224" y="4480560"/>
            <a:ext cx="858012" cy="16459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82812" y="5029200"/>
            <a:ext cx="858012" cy="10972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77400" y="4261104"/>
            <a:ext cx="858012" cy="18653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71988" y="5358384"/>
            <a:ext cx="858012" cy="7680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 b="1">
                <a:solidFill>
                  <a:srgbClr val="1A2030"/>
                </a:solidFill>
                <a:latin typeface="Meiryo"/>
              </a:rPr>
              <a:t>ソートアルゴリズム入門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2F7FD9"/>
                </a:solidFill>
                <a:latin typeface="Meiryo"/>
              </a:rPr>
              <a:t>縦棒で見て、手を動かして学ぶ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D6B82"/>
                </a:solidFill>
                <a:latin typeface="Meiryo"/>
              </a:rPr>
              <a:t>比較 ・ 交換 ・ 計算量 を体感する教材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Consolas"/>
              </a:rPr>
              <a:t>対応ビジュアライザ:  html/sort.html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ソートとは？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データを一定の順序に並べ替えること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身近な例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テストの点数を高い順に並べる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名前を五十音順に並べる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ファイルを更新日時順に表示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検索の前処理（並んでいると速い）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なぜ複数の方法を学ぶ？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同じ「並べ替え」でも手順は何通りもある。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それぞれ </a:t>
            </a:r>
            <a:r>
              <a:rPr sz="1500" b="1">
                <a:solidFill>
                  <a:srgbClr val="2F7FD9"/>
                </a:solidFill>
                <a:latin typeface="Meiryo"/>
              </a:rPr>
              <a:t>速さ</a:t>
            </a:r>
            <a:r>
              <a:rPr sz="1500" b="0">
                <a:solidFill>
                  <a:srgbClr val="1A2030"/>
                </a:solidFill>
                <a:latin typeface="Meiryo"/>
              </a:rPr>
              <a:t> ・ </a:t>
            </a:r>
            <a:r>
              <a:rPr sz="1500" b="1">
                <a:solidFill>
                  <a:srgbClr val="2F7FD9"/>
                </a:solidFill>
                <a:latin typeface="Meiryo"/>
              </a:rPr>
              <a:t>メモリ</a:t>
            </a:r>
            <a:r>
              <a:rPr sz="1500" b="0">
                <a:solidFill>
                  <a:srgbClr val="1A2030"/>
                </a:solidFill>
                <a:latin typeface="Meiryo"/>
              </a:rPr>
              <a:t> ・ </a:t>
            </a:r>
            <a:r>
              <a:rPr sz="1500" b="1">
                <a:solidFill>
                  <a:srgbClr val="2F7FD9"/>
                </a:solidFill>
                <a:latin typeface="Meiryo"/>
              </a:rPr>
              <a:t>わかりやすさ</a:t>
            </a:r>
            <a:r>
              <a:rPr sz="1500" b="0">
                <a:solidFill>
                  <a:srgbClr val="1A2030"/>
                </a:solidFill>
                <a:latin typeface="Meiryo"/>
              </a:rPr>
              <a:t> が違う。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違いを知ると「どれを使うか」を選べるようになる。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並べ替え前（ランダム）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68112"/>
            <a:ext cx="479145" cy="8412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175504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2921" y="4416552"/>
            <a:ext cx="479145" cy="18928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2921" y="4123944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8643" y="5888736"/>
            <a:ext cx="479145" cy="42062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88643" y="5596128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04364" y="4837176"/>
            <a:ext cx="479145" cy="147218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04364" y="4544568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0086" y="5678424"/>
            <a:ext cx="479145" cy="6309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20086" y="5385816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5808" y="4206240"/>
            <a:ext cx="479145" cy="21031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35808" y="3913632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1529" y="5257800"/>
            <a:ext cx="479145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51529" y="4965192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7251" y="4626864"/>
            <a:ext cx="479145" cy="16824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67251" y="4334256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2972" y="6099048"/>
            <a:ext cx="479145" cy="21031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82972" y="5806440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98694" y="5047488"/>
            <a:ext cx="479145" cy="126187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98694" y="4754880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94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ADE80"/>
                </a:solidFill>
                <a:latin typeface="Meiryo"/>
              </a:rPr>
              <a:t>並べ替え後（昇順）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6099048"/>
            <a:ext cx="479145" cy="2103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5806440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25081" y="5888736"/>
            <a:ext cx="479145" cy="42062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25081" y="5596128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40803" y="5678424"/>
            <a:ext cx="479145" cy="63093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40803" y="5385816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56524" y="5468112"/>
            <a:ext cx="479145" cy="8412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56524" y="5175504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72246" y="5257800"/>
            <a:ext cx="479145" cy="10515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72246" y="4965192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87968" y="5047488"/>
            <a:ext cx="479145" cy="126187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87968" y="4754880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03689" y="4837176"/>
            <a:ext cx="479145" cy="14721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03689" y="4544568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19411" y="4626864"/>
            <a:ext cx="479145" cy="168249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19411" y="4334256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35132" y="4416552"/>
            <a:ext cx="479145" cy="189280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435132" y="4123944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50854" y="4206240"/>
            <a:ext cx="479145" cy="2103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950854" y="3913632"/>
            <a:ext cx="4791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2つの基本操作と「計算量」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アルゴリズムの速さは操作の回数で測る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D24A"/>
                </a:solidFill>
                <a:latin typeface="Meiryo"/>
              </a:rPr>
              <a:t>① 比較 (compare)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2つの要素の大小を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調べる。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1A2030"/>
              </a:solidFill>
              <a:latin typeface="Meiryo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例: a[i] と a[j]、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どちらが大きい？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6B6B"/>
                </a:solidFill>
                <a:latin typeface="Meiryo"/>
              </a:rPr>
              <a:t>② 交換 (swap)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2つの要素の位置を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入れ替える。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1A2030"/>
              </a:solidFill>
              <a:latin typeface="Meiryo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例: a[i] と a[j] を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ひっくり返す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計算量 (Big-O)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要素数 n が増えると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操作回数がどれくらい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増えるかの目安。</a:t>
            </a:r>
          </a:p>
          <a:p>
            <a:pPr algn="l">
              <a:lnSpc>
                <a:spcPct val="120000"/>
              </a:lnSpc>
            </a:pPr>
            <a:endParaRPr sz="1400" b="0">
              <a:solidFill>
                <a:srgbClr val="1A2030"/>
              </a:solidFill>
              <a:latin typeface="Meiryo"/>
            </a:endParaRP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2F7FD9"/>
                </a:solidFill>
                <a:latin typeface="Meiryo"/>
              </a:rPr>
              <a:t>O(n²)</a:t>
            </a:r>
            <a:r>
              <a:rPr sz="1400" b="0">
                <a:solidFill>
                  <a:srgbClr val="1A2030"/>
                </a:solidFill>
                <a:latin typeface="Meiryo"/>
              </a:rPr>
              <a:t> は n が10倍で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操作が約100倍に！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n が増えたときの操作回数の伸び（小さいほど速い）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O(1)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480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一定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4805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DE80"/>
                </a:solidFill>
                <a:latin typeface="Meiryo"/>
              </a:rPr>
              <a:t>★★★★★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507992"/>
            <a:ext cx="301752" cy="201168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80974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O(log 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8097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とても緩やか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80974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DE80"/>
                </a:solidFill>
                <a:latin typeface="Meiryo"/>
              </a:rPr>
              <a:t>★★★★★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837176"/>
            <a:ext cx="603504" cy="201168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O(n)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138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比例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1389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ADE80"/>
                </a:solidFill>
                <a:latin typeface="Meiryo"/>
              </a:rPr>
              <a:t>★★★★☆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166360"/>
            <a:ext cx="1207008" cy="201168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46811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7FD9"/>
                </a:solidFill>
                <a:latin typeface="Consolas"/>
              </a:rPr>
              <a:t>O(n log 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468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やや増える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4681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F7FD9"/>
                </a:solidFill>
                <a:latin typeface="Meiryo"/>
              </a:rPr>
              <a:t>★★★☆☆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495544"/>
            <a:ext cx="1931212" cy="201168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579729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D24A"/>
                </a:solidFill>
                <a:latin typeface="Consolas"/>
              </a:rPr>
              <a:t>O(n²)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79729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急増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79729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★★☆☆☆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5824728"/>
            <a:ext cx="3017520" cy="201168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6126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6B6B"/>
                </a:solidFill>
                <a:latin typeface="Consolas"/>
              </a:rPr>
              <a:t>O(n³)〜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6126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Meiryo"/>
              </a:rPr>
              <a:t>爆発的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61264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6B6B"/>
                </a:solidFill>
                <a:latin typeface="Meiryo"/>
              </a:rPr>
              <a:t>★☆☆☆☆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6153912"/>
            <a:ext cx="3621024" cy="20116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バブルソート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Bubble Sort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隣り合う2つを比べて、大きい方を後ろへ送る。これを繰り返すと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大きい値が泡のように右端へ浮かび上がっていく。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先頭から隣同士を比較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左 &gt; 右 なら交換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右端まで行くと最大値が確定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残りで繰り返す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シンプルで理解しやすいが遅い。教材の定番。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比較中: a[3] と a[4]（右端は確定済み）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898648"/>
            <a:ext cx="475488" cy="62179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60604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4" y="2587752"/>
            <a:ext cx="475488" cy="93268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22951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3054096"/>
            <a:ext cx="475488" cy="46634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276148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2121408"/>
            <a:ext cx="475488" cy="1399032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182880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2743200"/>
            <a:ext cx="475488" cy="777240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24505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209544"/>
            <a:ext cx="475488" cy="3108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29169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0384" y="2432304"/>
            <a:ext cx="475488" cy="10881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13969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8" y="2276856"/>
            <a:ext cx="475488" cy="12435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42448" y="198424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54512" y="1965960"/>
            <a:ext cx="475488" cy="15544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4512" y="167335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730752"/>
            <a:ext cx="164592" cy="16459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1736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未ソート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27264" y="3730752"/>
            <a:ext cx="164592" cy="164592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比較中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23376" y="3730752"/>
            <a:ext cx="164592" cy="16459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交換/書込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373075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76688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基準(pivot)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66576" y="373075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860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確定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計算量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800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93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平均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932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3858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385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784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メモリ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6784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971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安定性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971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安定 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選択ソート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Selection Sort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未ソート部分から最小値を探し、その先頭と交換する。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交換回数が少ないのが特徴。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未ソート部分の最小値を探す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先頭の要素と交換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確定範囲を1つ広げる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全部確定するまで繰り返す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比較は多いが交換は最小限（最大 n-1 回）。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最小値を探索中（紫=現在地, 緑=確定）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347720"/>
            <a:ext cx="475488" cy="172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305511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4" y="3175000"/>
            <a:ext cx="475488" cy="345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28823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3002280"/>
            <a:ext cx="475488" cy="5181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270967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1965960"/>
            <a:ext cx="475488" cy="155448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167335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2656840"/>
            <a:ext cx="475488" cy="863600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236423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088640"/>
            <a:ext cx="475488" cy="431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279603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0384" y="2311400"/>
            <a:ext cx="475488" cy="12090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0187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8" y="2138680"/>
            <a:ext cx="475488" cy="13817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42448" y="184607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54512" y="2484120"/>
            <a:ext cx="475488" cy="10363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4512" y="219151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730752"/>
            <a:ext cx="164592" cy="16459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1736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未ソート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27264" y="3730752"/>
            <a:ext cx="164592" cy="164592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比較中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23376" y="3730752"/>
            <a:ext cx="164592" cy="16459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交換/書込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373075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76688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基準(pivot)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66576" y="373075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860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確定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計算量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800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93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平均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932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3858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385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784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メモリ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6784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971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安定性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971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不安定 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挿入ソート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Insertion Sort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整列済みの列に、新しい要素を正しい位置へ「差し込む」。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トランプを手札に並べる動きと同じ。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左端を整列済みとみなす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次の要素を取り出す(key)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整列済みの中で入る位置を探す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ずらして空けた所へ挿入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ほぼ整列済みのデータに非常に強い（O(n)に近い）。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key=35 を左の整列済み部分へ挿入中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364992"/>
            <a:ext cx="475488" cy="1554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307238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4" y="3209544"/>
            <a:ext cx="475488" cy="31089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29169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2743200"/>
            <a:ext cx="475488" cy="7772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24505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2432304"/>
            <a:ext cx="475488" cy="108813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13969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2121408"/>
            <a:ext cx="475488" cy="13990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182880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2976372"/>
            <a:ext cx="475488" cy="544068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268376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0384" y="2587752"/>
            <a:ext cx="475488" cy="93268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2951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8" y="2276856"/>
            <a:ext cx="475488" cy="124358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42448" y="198424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54512" y="1965960"/>
            <a:ext cx="475488" cy="15544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4512" y="167335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730752"/>
            <a:ext cx="164592" cy="16459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1736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未ソート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27264" y="3730752"/>
            <a:ext cx="164592" cy="164592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比較中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23376" y="3730752"/>
            <a:ext cx="164592" cy="16459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交換/書込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373075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76688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基準(pivot)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66576" y="373075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860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確定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計算量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800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93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平均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932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3858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385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784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メモリ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6784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971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安定性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971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安定 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クイックソート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Quick Sort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基準値(pivot)を決め、それより小さい組・大きい組に分ける。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各組を同じ方法で再帰的に並べ替える「分割統治」。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pivot を1つ選ぶ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pivot 未満を左、以上を右へ分割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pivot を境界に置いて確定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左右をそれぞれ再帰的に処理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平均的に最速級。実用で広く使われる。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pivot=70 で分割中（紫=pivot）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054096"/>
            <a:ext cx="475488" cy="46634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76148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4" y="2743200"/>
            <a:ext cx="475488" cy="7772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24505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3209544"/>
            <a:ext cx="475488" cy="3108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29169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2432304"/>
            <a:ext cx="475488" cy="1088136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13969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2121408"/>
            <a:ext cx="475488" cy="1399032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182880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2587752"/>
            <a:ext cx="475488" cy="93268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22951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0384" y="1965960"/>
            <a:ext cx="475488" cy="15544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167335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8" y="2898648"/>
            <a:ext cx="475488" cy="62179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42448" y="260604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54512" y="2276856"/>
            <a:ext cx="475488" cy="124358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4512" y="198424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730752"/>
            <a:ext cx="164592" cy="16459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1736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未ソート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27264" y="3730752"/>
            <a:ext cx="164592" cy="164592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比較中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23376" y="3730752"/>
            <a:ext cx="164592" cy="16459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交換/書込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373075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76688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基準(pivot)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66576" y="373075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860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確定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計算量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800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93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平均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932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3858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385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784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メモリ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6784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O(log 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971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安定性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971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不安定 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マージソート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Merge Sort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配列を半分ずつに分割し、小さくしてから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整列しつつ「併合(merge)」して戻す。安定で最悪も速い。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配列を半分に分ける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分割できなくなるまで再帰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2つの整列列を比較しながら併合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全体が1つに戻れば完成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最悪でも O(n log n) で安定。ただし追加メモリが必要。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2つの整列済み列を併合中（黄=比較）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209544"/>
            <a:ext cx="475488" cy="310896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9169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4" y="2743200"/>
            <a:ext cx="475488" cy="7772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24505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2432304"/>
            <a:ext cx="475488" cy="10881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213969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3054096"/>
            <a:ext cx="475488" cy="466344"/>
          </a:xfrm>
          <a:prstGeom prst="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76148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2587752"/>
            <a:ext cx="475488" cy="93268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22951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2121408"/>
            <a:ext cx="475488" cy="13990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82880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0384" y="2898648"/>
            <a:ext cx="475488" cy="62179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60604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8" y="2276856"/>
            <a:ext cx="475488" cy="124358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42448" y="198424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54512" y="1965960"/>
            <a:ext cx="475488" cy="15544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4512" y="167335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730752"/>
            <a:ext cx="164592" cy="16459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1736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未ソート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27264" y="3730752"/>
            <a:ext cx="164592" cy="164592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比較中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23376" y="3730752"/>
            <a:ext cx="164592" cy="16459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交換/書込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373075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76688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基準(pivot)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66576" y="373075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860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確定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計算量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800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93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平均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932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3858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385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784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メモリ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6784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971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安定性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971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安定 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ヒープソート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Heap Sort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配列を「最大ヒープ（親≧子の木）」に組み、根の最大値を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末尾へ運んで確定…を繰り返す。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配列を最大ヒープに構築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根(最大値)を末尾と交換し確定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残りを再びヒープに整える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全部確定するまで繰り返す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追加メモリ O(1) で最悪も O(n log n)。木構造の応用。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根の最大値を末尾へ移動して確定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276856"/>
            <a:ext cx="475488" cy="124358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198424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4" y="2587752"/>
            <a:ext cx="475488" cy="93268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22951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2432304"/>
            <a:ext cx="475488" cy="10881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213969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3054096"/>
            <a:ext cx="475488" cy="46634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76148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2743200"/>
            <a:ext cx="475488" cy="7772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245059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209544"/>
            <a:ext cx="475488" cy="3108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29169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0384" y="2898648"/>
            <a:ext cx="475488" cy="62179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60604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8" y="2121408"/>
            <a:ext cx="475488" cy="13990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42448" y="1828800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54512" y="1965960"/>
            <a:ext cx="475488" cy="15544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54512" y="167335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730752"/>
            <a:ext cx="164592" cy="164592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1736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未ソート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27264" y="3730752"/>
            <a:ext cx="164592" cy="164592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比較中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23376" y="3730752"/>
            <a:ext cx="164592" cy="164592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交換/書込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373075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76688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基準(pivot)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66576" y="373075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86032" y="3685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確定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計算量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800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93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平均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932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3858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最悪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385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O(n log 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784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メモリ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6784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O(1)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971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安定性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971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030"/>
                </a:solidFill>
                <a:latin typeface="Consolas"/>
              </a:rPr>
              <a:t>不安定 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アルゴリズム比較まとめ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用途に合わせて選ぶための早見表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6122A"/>
                          </a:solidFill>
                          <a:latin typeface="Meiryo"/>
                        </a:rPr>
                        <a:t>アルゴリズム</a:t>
                      </a:r>
                    </a:p>
                  </a:txBody>
                  <a:tcPr marL="73152" marR="45720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122A"/>
                          </a:solidFill>
                          <a:latin typeface="Meiryo"/>
                        </a:rPr>
                        <a:t>最良</a:t>
                      </a:r>
                    </a:p>
                  </a:txBody>
                  <a:tcPr marL="73152" marR="45720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122A"/>
                          </a:solidFill>
                          <a:latin typeface="Meiryo"/>
                        </a:rPr>
                        <a:t>平均</a:t>
                      </a:r>
                    </a:p>
                  </a:txBody>
                  <a:tcPr marL="73152" marR="45720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122A"/>
                          </a:solidFill>
                          <a:latin typeface="Meiryo"/>
                        </a:rPr>
                        <a:t>最悪</a:t>
                      </a:r>
                    </a:p>
                  </a:txBody>
                  <a:tcPr marL="73152" marR="45720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122A"/>
                          </a:solidFill>
                          <a:latin typeface="Meiryo"/>
                        </a:rPr>
                        <a:t>メモリ</a:t>
                      </a:r>
                    </a:p>
                  </a:txBody>
                  <a:tcPr marL="73152" marR="45720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122A"/>
                          </a:solidFill>
                          <a:latin typeface="Meiryo"/>
                        </a:rPr>
                        <a:t>安定</a:t>
                      </a:r>
                    </a:p>
                  </a:txBody>
                  <a:tcPr marL="73152" marR="45720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122A"/>
                          </a:solidFill>
                          <a:latin typeface="Meiryo"/>
                        </a:rPr>
                        <a:t>ひとこと</a:t>
                      </a:r>
                    </a:p>
                  </a:txBody>
                  <a:tcPr marL="73152" marR="45720" marT="18288" marB="18288" anchor="ctr">
                    <a:solidFill>
                      <a:srgbClr val="2F7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バブル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DE8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学習用・最も素直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選択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D6B82"/>
                          </a:solidFill>
                          <a:latin typeface="Meiryo"/>
                        </a:rPr>
                        <a:t>×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交換回数が最少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挿入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DE8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ほぼ整列済みに強い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クイック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O(log n)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D6B82"/>
                          </a:solidFill>
                          <a:latin typeface="Meiryo"/>
                        </a:rPr>
                        <a:t>×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平均最速・実用的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マージ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DE8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安定＆最悪も速い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ヒープ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O(n log n)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D6B82"/>
                          </a:solidFill>
                          <a:latin typeface="Meiryo"/>
                        </a:rPr>
                        <a:t>×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030"/>
                          </a:solidFill>
                          <a:latin typeface="Meiryo"/>
                        </a:rPr>
                        <a:t>省メモリで安定的速度</a:t>
                      </a:r>
                    </a:p>
                  </a:txBody>
                  <a:tcPr marL="73152" marR="45720" marT="18288" marB="18288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選び方の目安:  まず学ぶなら </a:t>
            </a:r>
            <a:r>
              <a:rPr sz="1400" b="1">
                <a:solidFill>
                  <a:srgbClr val="2F7FD9"/>
                </a:solidFill>
                <a:latin typeface="Meiryo"/>
              </a:rPr>
              <a:t>挿入/選択</a:t>
            </a:r>
            <a:r>
              <a:rPr sz="1400" b="0">
                <a:solidFill>
                  <a:srgbClr val="1A2030"/>
                </a:solidFill>
                <a:latin typeface="Meiryo"/>
              </a:rPr>
              <a:t> ・ 実用で迷ったら </a:t>
            </a:r>
            <a:r>
              <a:rPr sz="1400" b="1">
                <a:solidFill>
                  <a:srgbClr val="2F7FD9"/>
                </a:solidFill>
                <a:latin typeface="Meiryo"/>
              </a:rPr>
              <a:t>クイック</a:t>
            </a:r>
            <a:r>
              <a:rPr sz="1400" b="0">
                <a:solidFill>
                  <a:srgbClr val="1A2030"/>
                </a:solidFill>
                <a:latin typeface="Meiryo"/>
              </a:rPr>
              <a:t> ・ 安定性が必要なら </a:t>
            </a:r>
            <a:r>
              <a:rPr sz="1400" b="1">
                <a:solidFill>
                  <a:srgbClr val="2F7FD9"/>
                </a:solidFill>
                <a:latin typeface="Meiryo"/>
              </a:rPr>
              <a:t>マージ</a:t>
            </a:r>
            <a:r>
              <a:rPr sz="1400" b="0">
                <a:solidFill>
                  <a:srgbClr val="1A2030"/>
                </a:solidFill>
                <a:latin typeface="Meiryo"/>
              </a:rPr>
              <a:t> ・ メモリが厳しいなら </a:t>
            </a:r>
            <a:r>
              <a:rPr sz="1400" b="1">
                <a:solidFill>
                  <a:srgbClr val="2F7FD9"/>
                </a:solidFill>
                <a:latin typeface="Meiryo"/>
              </a:rPr>
              <a:t>ヒープ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まとめと演習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手を動かして確かめよう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今日のポイント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ソートは </a:t>
            </a:r>
            <a:r>
              <a:rPr sz="1500" b="1">
                <a:solidFill>
                  <a:srgbClr val="2F7FD9"/>
                </a:solidFill>
                <a:latin typeface="Meiryo"/>
              </a:rPr>
              <a:t>比較</a:t>
            </a:r>
            <a:r>
              <a:rPr sz="1500" b="0">
                <a:solidFill>
                  <a:srgbClr val="1A2030"/>
                </a:solidFill>
                <a:latin typeface="Meiryo"/>
              </a:rPr>
              <a:t> と </a:t>
            </a:r>
            <a:r>
              <a:rPr sz="1500" b="1">
                <a:solidFill>
                  <a:srgbClr val="2F7FD9"/>
                </a:solidFill>
                <a:latin typeface="Meiryo"/>
              </a:rPr>
              <a:t>交換</a:t>
            </a:r>
            <a:r>
              <a:rPr sz="1500" b="0">
                <a:solidFill>
                  <a:srgbClr val="1A2030"/>
                </a:solidFill>
                <a:latin typeface="Meiryo"/>
              </a:rPr>
              <a:t> の繰り返し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速さは </a:t>
            </a:r>
            <a:r>
              <a:rPr sz="1500" b="1">
                <a:solidFill>
                  <a:srgbClr val="2F7FD9"/>
                </a:solidFill>
                <a:latin typeface="Meiryo"/>
              </a:rPr>
              <a:t>計算量 (Big-O)</a:t>
            </a:r>
            <a:r>
              <a:rPr sz="1500" b="0">
                <a:solidFill>
                  <a:srgbClr val="1A2030"/>
                </a:solidFill>
                <a:latin typeface="Meiryo"/>
              </a:rPr>
              <a:t> で測る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O(n²) 組と O(n log n) 組で大きく差が出る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「速さ・メモリ・安定性」のバランスで選ぶ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万能な1つはない。場面で使い分ける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演習（ビジュアライザで）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1. 同じ配列でバブルとクイックの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「比較回数」を比べよう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2. 要素数を10→60に増やすと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回数はどれだけ増える？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3. ほぼ整列済みの列で挿入ソートが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速くなるのを確かめよう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▶ 付属ビジュアライザで体験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Consolas"/>
              </a:rPr>
              <a:t>html/sort.html をブラウザで開く  →  🎲ランダム生成 →  「次へ」で1ステップずつ /  ◀戻る で逆再生 /  計算量カウントをリアルタイム表示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おしまい — 自分の手で動かすのがいちばんの近道！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1093</Words>
  <Application>Microsoft Macintosh PowerPoint</Application>
  <PresentationFormat>ワイド画面</PresentationFormat>
  <Paragraphs>379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Meiryo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倉光 君郎</cp:lastModifiedBy>
  <cp:revision>1</cp:revision>
  <dcterms:created xsi:type="dcterms:W3CDTF">2013-01-27T09:14:16Z</dcterms:created>
  <dcterms:modified xsi:type="dcterms:W3CDTF">2026-06-15T06:04:34Z</dcterms:modified>
  <cp:category/>
</cp:coreProperties>
</file>