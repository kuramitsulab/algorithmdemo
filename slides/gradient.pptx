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949440" y="4754880"/>
            <a:ext cx="4572000" cy="0"/>
          </a:xfrm>
          <a:prstGeom prst="line">
            <a:avLst/>
          </a:prstGeom>
          <a:ln w="12700">
            <a:solidFill>
              <a:srgbClr val="D6DC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235440" y="2011680"/>
            <a:ext cx="0" cy="2743200"/>
          </a:xfrm>
          <a:prstGeom prst="line">
            <a:avLst/>
          </a:prstGeom>
          <a:ln w="12700">
            <a:solidFill>
              <a:srgbClr val="C084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6949440" y="2293515"/>
            <a:ext cx="4572000" cy="2348630"/>
          </a:xfrm>
          <a:custGeom>
            <a:avLst/>
            <a:gdLst/>
            <a:ahLst/>
            <a:cxnLst/>
            <a:rect l="l" t="t" r="r" b="b"/>
            <a:pathLst>
              <a:path w="4572000" h="2348630">
                <a:moveTo>
                  <a:pt x="0" y="0"/>
                </a:moveTo>
                <a:lnTo>
                  <a:pt x="38100" y="77636"/>
                </a:lnTo>
                <a:lnTo>
                  <a:pt x="76200" y="153966"/>
                </a:lnTo>
                <a:lnTo>
                  <a:pt x="114300" y="228992"/>
                </a:lnTo>
                <a:lnTo>
                  <a:pt x="152400" y="302713"/>
                </a:lnTo>
                <a:lnTo>
                  <a:pt x="190500" y="375129"/>
                </a:lnTo>
                <a:lnTo>
                  <a:pt x="228600" y="446240"/>
                </a:lnTo>
                <a:lnTo>
                  <a:pt x="266700" y="516046"/>
                </a:lnTo>
                <a:lnTo>
                  <a:pt x="304800" y="584548"/>
                </a:lnTo>
                <a:lnTo>
                  <a:pt x="342900" y="651745"/>
                </a:lnTo>
                <a:lnTo>
                  <a:pt x="381000" y="717637"/>
                </a:lnTo>
                <a:lnTo>
                  <a:pt x="419100" y="782225"/>
                </a:lnTo>
                <a:lnTo>
                  <a:pt x="457200" y="845507"/>
                </a:lnTo>
                <a:lnTo>
                  <a:pt x="495300" y="907485"/>
                </a:lnTo>
                <a:lnTo>
                  <a:pt x="533400" y="968158"/>
                </a:lnTo>
                <a:lnTo>
                  <a:pt x="571500" y="1027526"/>
                </a:lnTo>
                <a:lnTo>
                  <a:pt x="609600" y="1085589"/>
                </a:lnTo>
                <a:lnTo>
                  <a:pt x="647700" y="1142348"/>
                </a:lnTo>
                <a:lnTo>
                  <a:pt x="685800" y="1197802"/>
                </a:lnTo>
                <a:lnTo>
                  <a:pt x="723900" y="1251951"/>
                </a:lnTo>
                <a:lnTo>
                  <a:pt x="762000" y="1304795"/>
                </a:lnTo>
                <a:lnTo>
                  <a:pt x="800100" y="1356334"/>
                </a:lnTo>
                <a:lnTo>
                  <a:pt x="838200" y="1406569"/>
                </a:lnTo>
                <a:lnTo>
                  <a:pt x="876300" y="1455498"/>
                </a:lnTo>
                <a:lnTo>
                  <a:pt x="914400" y="1503123"/>
                </a:lnTo>
                <a:lnTo>
                  <a:pt x="952500" y="1549444"/>
                </a:lnTo>
                <a:lnTo>
                  <a:pt x="990600" y="1594459"/>
                </a:lnTo>
                <a:lnTo>
                  <a:pt x="1028700" y="1638170"/>
                </a:lnTo>
                <a:lnTo>
                  <a:pt x="1066800" y="1680575"/>
                </a:lnTo>
                <a:lnTo>
                  <a:pt x="1104900" y="1721676"/>
                </a:lnTo>
                <a:lnTo>
                  <a:pt x="1143000" y="1761473"/>
                </a:lnTo>
                <a:lnTo>
                  <a:pt x="1181100" y="1799964"/>
                </a:lnTo>
                <a:lnTo>
                  <a:pt x="1219200" y="1837151"/>
                </a:lnTo>
                <a:lnTo>
                  <a:pt x="1257300" y="1873033"/>
                </a:lnTo>
                <a:lnTo>
                  <a:pt x="1295400" y="1907610"/>
                </a:lnTo>
                <a:lnTo>
                  <a:pt x="1333500" y="1940882"/>
                </a:lnTo>
                <a:lnTo>
                  <a:pt x="1371600" y="1972849"/>
                </a:lnTo>
                <a:lnTo>
                  <a:pt x="1409700" y="2003512"/>
                </a:lnTo>
                <a:lnTo>
                  <a:pt x="1447800" y="2032870"/>
                </a:lnTo>
                <a:lnTo>
                  <a:pt x="1485900" y="2060923"/>
                </a:lnTo>
                <a:lnTo>
                  <a:pt x="1524000" y="2087671"/>
                </a:lnTo>
                <a:lnTo>
                  <a:pt x="1562100" y="2113115"/>
                </a:lnTo>
                <a:lnTo>
                  <a:pt x="1600200" y="2137253"/>
                </a:lnTo>
                <a:lnTo>
                  <a:pt x="1638300" y="2160087"/>
                </a:lnTo>
                <a:lnTo>
                  <a:pt x="1676400" y="2181616"/>
                </a:lnTo>
                <a:lnTo>
                  <a:pt x="1714500" y="2201841"/>
                </a:lnTo>
                <a:lnTo>
                  <a:pt x="1752600" y="2220760"/>
                </a:lnTo>
                <a:lnTo>
                  <a:pt x="1790700" y="2238375"/>
                </a:lnTo>
                <a:lnTo>
                  <a:pt x="1828800" y="2254685"/>
                </a:lnTo>
                <a:lnTo>
                  <a:pt x="1866900" y="2269690"/>
                </a:lnTo>
                <a:lnTo>
                  <a:pt x="1905000" y="2283390"/>
                </a:lnTo>
                <a:lnTo>
                  <a:pt x="1943100" y="2295786"/>
                </a:lnTo>
                <a:lnTo>
                  <a:pt x="1981200" y="2306877"/>
                </a:lnTo>
                <a:lnTo>
                  <a:pt x="2019300" y="2316663"/>
                </a:lnTo>
                <a:lnTo>
                  <a:pt x="2057400" y="2325144"/>
                </a:lnTo>
                <a:lnTo>
                  <a:pt x="2095500" y="2332320"/>
                </a:lnTo>
                <a:lnTo>
                  <a:pt x="2133600" y="2338192"/>
                </a:lnTo>
                <a:lnTo>
                  <a:pt x="2171700" y="2342759"/>
                </a:lnTo>
                <a:lnTo>
                  <a:pt x="2209800" y="2346021"/>
                </a:lnTo>
                <a:lnTo>
                  <a:pt x="2247900" y="2347978"/>
                </a:lnTo>
                <a:lnTo>
                  <a:pt x="2286000" y="2348630"/>
                </a:lnTo>
                <a:lnTo>
                  <a:pt x="2324100" y="2347978"/>
                </a:lnTo>
                <a:lnTo>
                  <a:pt x="2362200" y="2346021"/>
                </a:lnTo>
                <a:lnTo>
                  <a:pt x="2400300" y="2342759"/>
                </a:lnTo>
                <a:lnTo>
                  <a:pt x="2438400" y="2338192"/>
                </a:lnTo>
                <a:lnTo>
                  <a:pt x="2476500" y="2332320"/>
                </a:lnTo>
                <a:lnTo>
                  <a:pt x="2514600" y="2325144"/>
                </a:lnTo>
                <a:lnTo>
                  <a:pt x="2552700" y="2316663"/>
                </a:lnTo>
                <a:lnTo>
                  <a:pt x="2590800" y="2306877"/>
                </a:lnTo>
                <a:lnTo>
                  <a:pt x="2628900" y="2295786"/>
                </a:lnTo>
                <a:lnTo>
                  <a:pt x="2667000" y="2283390"/>
                </a:lnTo>
                <a:lnTo>
                  <a:pt x="2705100" y="2269690"/>
                </a:lnTo>
                <a:lnTo>
                  <a:pt x="2743200" y="2254685"/>
                </a:lnTo>
                <a:lnTo>
                  <a:pt x="2781300" y="2238375"/>
                </a:lnTo>
                <a:lnTo>
                  <a:pt x="2819400" y="2220760"/>
                </a:lnTo>
                <a:lnTo>
                  <a:pt x="2857500" y="2201841"/>
                </a:lnTo>
                <a:lnTo>
                  <a:pt x="2895600" y="2181616"/>
                </a:lnTo>
                <a:lnTo>
                  <a:pt x="2933700" y="2160087"/>
                </a:lnTo>
                <a:lnTo>
                  <a:pt x="2971800" y="2137253"/>
                </a:lnTo>
                <a:lnTo>
                  <a:pt x="3009900" y="2113115"/>
                </a:lnTo>
                <a:lnTo>
                  <a:pt x="3048000" y="2087671"/>
                </a:lnTo>
                <a:lnTo>
                  <a:pt x="3086100" y="2060923"/>
                </a:lnTo>
                <a:lnTo>
                  <a:pt x="3124200" y="2032870"/>
                </a:lnTo>
                <a:lnTo>
                  <a:pt x="3162300" y="2003512"/>
                </a:lnTo>
                <a:lnTo>
                  <a:pt x="3200400" y="1972849"/>
                </a:lnTo>
                <a:lnTo>
                  <a:pt x="3238500" y="1940882"/>
                </a:lnTo>
                <a:lnTo>
                  <a:pt x="3276600" y="1907610"/>
                </a:lnTo>
                <a:lnTo>
                  <a:pt x="3314700" y="1873033"/>
                </a:lnTo>
                <a:lnTo>
                  <a:pt x="3352800" y="1837151"/>
                </a:lnTo>
                <a:lnTo>
                  <a:pt x="3390900" y="1799964"/>
                </a:lnTo>
                <a:lnTo>
                  <a:pt x="3429000" y="1761473"/>
                </a:lnTo>
                <a:lnTo>
                  <a:pt x="3467100" y="1721676"/>
                </a:lnTo>
                <a:lnTo>
                  <a:pt x="3505200" y="1680575"/>
                </a:lnTo>
                <a:lnTo>
                  <a:pt x="3543300" y="1638170"/>
                </a:lnTo>
                <a:lnTo>
                  <a:pt x="3581400" y="1594459"/>
                </a:lnTo>
                <a:lnTo>
                  <a:pt x="3619500" y="1549444"/>
                </a:lnTo>
                <a:lnTo>
                  <a:pt x="3657600" y="1503123"/>
                </a:lnTo>
                <a:lnTo>
                  <a:pt x="3695700" y="1455498"/>
                </a:lnTo>
                <a:lnTo>
                  <a:pt x="3733800" y="1406569"/>
                </a:lnTo>
                <a:lnTo>
                  <a:pt x="3771900" y="1356334"/>
                </a:lnTo>
                <a:lnTo>
                  <a:pt x="3810000" y="1304795"/>
                </a:lnTo>
                <a:lnTo>
                  <a:pt x="3848100" y="1251951"/>
                </a:lnTo>
                <a:lnTo>
                  <a:pt x="3886200" y="1197802"/>
                </a:lnTo>
                <a:lnTo>
                  <a:pt x="3924300" y="1142348"/>
                </a:lnTo>
                <a:lnTo>
                  <a:pt x="3962400" y="1085589"/>
                </a:lnTo>
                <a:lnTo>
                  <a:pt x="4000500" y="1027526"/>
                </a:lnTo>
                <a:lnTo>
                  <a:pt x="4038600" y="968158"/>
                </a:lnTo>
                <a:lnTo>
                  <a:pt x="4076700" y="907485"/>
                </a:lnTo>
                <a:lnTo>
                  <a:pt x="4114800" y="845507"/>
                </a:lnTo>
                <a:lnTo>
                  <a:pt x="4152900" y="782225"/>
                </a:lnTo>
                <a:lnTo>
                  <a:pt x="4191000" y="717637"/>
                </a:lnTo>
                <a:lnTo>
                  <a:pt x="4229100" y="651745"/>
                </a:lnTo>
                <a:lnTo>
                  <a:pt x="4267200" y="584548"/>
                </a:lnTo>
                <a:lnTo>
                  <a:pt x="4305300" y="516046"/>
                </a:lnTo>
                <a:lnTo>
                  <a:pt x="4343400" y="446240"/>
                </a:lnTo>
                <a:lnTo>
                  <a:pt x="4381500" y="375129"/>
                </a:lnTo>
                <a:lnTo>
                  <a:pt x="4419600" y="302713"/>
                </a:lnTo>
                <a:lnTo>
                  <a:pt x="4457700" y="228992"/>
                </a:lnTo>
                <a:lnTo>
                  <a:pt x="4495800" y="153966"/>
                </a:lnTo>
                <a:lnTo>
                  <a:pt x="4533900" y="77636"/>
                </a:lnTo>
                <a:lnTo>
                  <a:pt x="4572000" y="0"/>
                </a:lnTo>
              </a:path>
            </a:pathLst>
          </a:custGeom>
          <a:noFill/>
          <a:ln w="3175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06640" y="3139022"/>
            <a:ext cx="877824" cy="1096679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84464" y="4235701"/>
            <a:ext cx="456468" cy="29654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40932" y="4532243"/>
            <a:ext cx="237364" cy="80185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78296" y="4612428"/>
            <a:ext cx="123429" cy="2168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01725" y="4634110"/>
            <a:ext cx="64183" cy="586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65908" y="4639972"/>
            <a:ext cx="33375" cy="1586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99283" y="4641558"/>
            <a:ext cx="17355" cy="42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16638" y="4641986"/>
            <a:ext cx="9025" cy="116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25663" y="4642102"/>
            <a:ext cx="4693" cy="3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30356" y="4642134"/>
            <a:ext cx="2440" cy="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2796" y="4642142"/>
            <a:ext cx="1269" cy="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34065" y="4642144"/>
            <a:ext cx="660" cy="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4725" y="4642145"/>
            <a:ext cx="343" cy="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51776" y="3084158"/>
            <a:ext cx="109728" cy="109728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0" y="4180837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068" y="4477379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23432" y="4557564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46861" y="4579246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11044" y="4585108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419" y="4586694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61774" y="4587122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70799" y="4587238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75492" y="4587270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77932" y="4587278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79201" y="4587280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79861" y="4587281"/>
            <a:ext cx="109728" cy="109728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80204" y="4587281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182880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>
                <a:solidFill>
                  <a:srgbClr val="1A2030"/>
                </a:solidFill>
                <a:latin typeface="Meiryo"/>
              </a:rPr>
              <a:t>勾配降下法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88036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F7FD9"/>
                </a:solidFill>
                <a:latin typeface="Meiryo"/>
              </a:rPr>
              <a:t>AI が「学習する」仕組みの心臓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6118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D6B82"/>
                </a:solidFill>
                <a:latin typeface="Meiryo"/>
              </a:rPr>
              <a:t>誤差の坂を下って、いちばん低い谷を探す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Consolas"/>
              </a:rPr>
              <a:t>対応ビジュアライザ:  html/gradient.html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AI の学習＝「誤差を小さくする」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正解とのズレ（損失）が最小になるパラメータを探す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303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モデルには調整つまみ＝</a:t>
            </a:r>
            <a:r>
              <a:rPr sz="1500" b="1">
                <a:solidFill>
                  <a:srgbClr val="2F7FD9"/>
                </a:solidFill>
                <a:latin typeface="Meiryo"/>
              </a:rPr>
              <a:t>パラメータ</a:t>
            </a:r>
            <a:r>
              <a:rPr sz="1500" b="0">
                <a:solidFill>
                  <a:srgbClr val="1A2030"/>
                </a:solidFill>
                <a:latin typeface="Meiryo"/>
              </a:rPr>
              <a:t>(重み)がある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予測と正解のズレを </a:t>
            </a:r>
            <a:r>
              <a:rPr sz="1500" b="1">
                <a:solidFill>
                  <a:srgbClr val="2F7FD9"/>
                </a:solidFill>
                <a:latin typeface="Meiryo"/>
              </a:rPr>
              <a:t>損失 f(x)</a:t>
            </a:r>
            <a:r>
              <a:rPr sz="1500" b="0">
                <a:solidFill>
                  <a:srgbClr val="1A2030"/>
                </a:solidFill>
                <a:latin typeface="Meiryo"/>
              </a:rPr>
              <a:t> で測る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損失を一番小さくするつまみの値を見つけたい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でも、つまみは何百万個。手では無理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勾配降下法のアイデア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5303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目隠しで山にいる人が、足元の </a:t>
            </a:r>
            <a:r>
              <a:rPr sz="1500" b="1">
                <a:solidFill>
                  <a:srgbClr val="2F7FD9"/>
                </a:solidFill>
                <a:latin typeface="Meiryo"/>
              </a:rPr>
              <a:t>傾き</a:t>
            </a:r>
            <a:r>
              <a:rPr sz="1500" b="0">
                <a:solidFill>
                  <a:srgbClr val="1A2030"/>
                </a:solidFill>
                <a:latin typeface="Meiryo"/>
              </a:rPr>
              <a:t> だけを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頼りに、低い方へ一歩ずつ下りていく。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やがて谷の底（損失が最小）にたどり着く。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48132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損失の地形を下るボール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80" y="4663440"/>
            <a:ext cx="4114800" cy="0"/>
          </a:xfrm>
          <a:prstGeom prst="line">
            <a:avLst/>
          </a:prstGeom>
          <a:ln w="12700">
            <a:solidFill>
              <a:srgbClr val="D6DC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98280" y="2194560"/>
            <a:ext cx="0" cy="2468880"/>
          </a:xfrm>
          <a:prstGeom prst="line">
            <a:avLst/>
          </a:prstGeom>
          <a:ln w="12700">
            <a:solidFill>
              <a:srgbClr val="C084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7040880" y="2448212"/>
            <a:ext cx="4114800" cy="2113767"/>
          </a:xfrm>
          <a:custGeom>
            <a:avLst/>
            <a:gdLst/>
            <a:ahLst/>
            <a:cxnLst/>
            <a:rect l="l" t="t" r="r" b="b"/>
            <a:pathLst>
              <a:path w="4114800" h="2113767">
                <a:moveTo>
                  <a:pt x="0" y="0"/>
                </a:moveTo>
                <a:lnTo>
                  <a:pt x="34290" y="69871"/>
                </a:lnTo>
                <a:lnTo>
                  <a:pt x="68580" y="138569"/>
                </a:lnTo>
                <a:lnTo>
                  <a:pt x="102870" y="206092"/>
                </a:lnTo>
                <a:lnTo>
                  <a:pt x="137160" y="272441"/>
                </a:lnTo>
                <a:lnTo>
                  <a:pt x="171450" y="337615"/>
                </a:lnTo>
                <a:lnTo>
                  <a:pt x="205740" y="401615"/>
                </a:lnTo>
                <a:lnTo>
                  <a:pt x="240030" y="464441"/>
                </a:lnTo>
                <a:lnTo>
                  <a:pt x="274320" y="526093"/>
                </a:lnTo>
                <a:lnTo>
                  <a:pt x="308610" y="586570"/>
                </a:lnTo>
                <a:lnTo>
                  <a:pt x="342900" y="645873"/>
                </a:lnTo>
                <a:lnTo>
                  <a:pt x="377190" y="704002"/>
                </a:lnTo>
                <a:lnTo>
                  <a:pt x="411480" y="760956"/>
                </a:lnTo>
                <a:lnTo>
                  <a:pt x="445770" y="816736"/>
                </a:lnTo>
                <a:lnTo>
                  <a:pt x="480060" y="871341"/>
                </a:lnTo>
                <a:lnTo>
                  <a:pt x="514350" y="924773"/>
                </a:lnTo>
                <a:lnTo>
                  <a:pt x="548640" y="977030"/>
                </a:lnTo>
                <a:lnTo>
                  <a:pt x="582930" y="1028112"/>
                </a:lnTo>
                <a:lnTo>
                  <a:pt x="617220" y="1078021"/>
                </a:lnTo>
                <a:lnTo>
                  <a:pt x="651510" y="1126755"/>
                </a:lnTo>
                <a:lnTo>
                  <a:pt x="685800" y="1174315"/>
                </a:lnTo>
                <a:lnTo>
                  <a:pt x="720090" y="1220700"/>
                </a:lnTo>
                <a:lnTo>
                  <a:pt x="754380" y="1265911"/>
                </a:lnTo>
                <a:lnTo>
                  <a:pt x="788670" y="1309948"/>
                </a:lnTo>
                <a:lnTo>
                  <a:pt x="822960" y="1352811"/>
                </a:lnTo>
                <a:lnTo>
                  <a:pt x="857250" y="1394499"/>
                </a:lnTo>
                <a:lnTo>
                  <a:pt x="891540" y="1435013"/>
                </a:lnTo>
                <a:lnTo>
                  <a:pt x="925830" y="1474352"/>
                </a:lnTo>
                <a:lnTo>
                  <a:pt x="960120" y="1512517"/>
                </a:lnTo>
                <a:lnTo>
                  <a:pt x="994410" y="1549508"/>
                </a:lnTo>
                <a:lnTo>
                  <a:pt x="1028700" y="1585325"/>
                </a:lnTo>
                <a:lnTo>
                  <a:pt x="1062990" y="1619967"/>
                </a:lnTo>
                <a:lnTo>
                  <a:pt x="1097280" y="1653435"/>
                </a:lnTo>
                <a:lnTo>
                  <a:pt x="1131570" y="1685729"/>
                </a:lnTo>
                <a:lnTo>
                  <a:pt x="1165860" y="1716848"/>
                </a:lnTo>
                <a:lnTo>
                  <a:pt x="1200150" y="1746793"/>
                </a:lnTo>
                <a:lnTo>
                  <a:pt x="1234440" y="1775564"/>
                </a:lnTo>
                <a:lnTo>
                  <a:pt x="1268730" y="1803160"/>
                </a:lnTo>
                <a:lnTo>
                  <a:pt x="1303020" y="1829582"/>
                </a:lnTo>
                <a:lnTo>
                  <a:pt x="1337310" y="1854830"/>
                </a:lnTo>
                <a:lnTo>
                  <a:pt x="1371600" y="1878904"/>
                </a:lnTo>
                <a:lnTo>
                  <a:pt x="1405890" y="1901803"/>
                </a:lnTo>
                <a:lnTo>
                  <a:pt x="1440180" y="1923528"/>
                </a:lnTo>
                <a:lnTo>
                  <a:pt x="1474470" y="1944078"/>
                </a:lnTo>
                <a:lnTo>
                  <a:pt x="1508760" y="1963454"/>
                </a:lnTo>
                <a:lnTo>
                  <a:pt x="1543050" y="1981656"/>
                </a:lnTo>
                <a:lnTo>
                  <a:pt x="1577340" y="1998684"/>
                </a:lnTo>
                <a:lnTo>
                  <a:pt x="1611630" y="2014537"/>
                </a:lnTo>
                <a:lnTo>
                  <a:pt x="1645920" y="2029216"/>
                </a:lnTo>
                <a:lnTo>
                  <a:pt x="1680210" y="2042721"/>
                </a:lnTo>
                <a:lnTo>
                  <a:pt x="1714500" y="2055051"/>
                </a:lnTo>
                <a:lnTo>
                  <a:pt x="1748790" y="2066207"/>
                </a:lnTo>
                <a:lnTo>
                  <a:pt x="1783080" y="2076189"/>
                </a:lnTo>
                <a:lnTo>
                  <a:pt x="1817370" y="2084996"/>
                </a:lnTo>
                <a:lnTo>
                  <a:pt x="1851660" y="2092629"/>
                </a:lnTo>
                <a:lnTo>
                  <a:pt x="1885950" y="2099088"/>
                </a:lnTo>
                <a:lnTo>
                  <a:pt x="1920240" y="2104372"/>
                </a:lnTo>
                <a:lnTo>
                  <a:pt x="1954530" y="2108482"/>
                </a:lnTo>
                <a:lnTo>
                  <a:pt x="1988820" y="2111418"/>
                </a:lnTo>
                <a:lnTo>
                  <a:pt x="2023110" y="2113179"/>
                </a:lnTo>
                <a:lnTo>
                  <a:pt x="2057400" y="2113767"/>
                </a:lnTo>
                <a:lnTo>
                  <a:pt x="2091690" y="2113179"/>
                </a:lnTo>
                <a:lnTo>
                  <a:pt x="2125980" y="2111418"/>
                </a:lnTo>
                <a:lnTo>
                  <a:pt x="2160270" y="2108482"/>
                </a:lnTo>
                <a:lnTo>
                  <a:pt x="2194560" y="2104372"/>
                </a:lnTo>
                <a:lnTo>
                  <a:pt x="2228850" y="2099088"/>
                </a:lnTo>
                <a:lnTo>
                  <a:pt x="2263140" y="2092629"/>
                </a:lnTo>
                <a:lnTo>
                  <a:pt x="2297430" y="2084996"/>
                </a:lnTo>
                <a:lnTo>
                  <a:pt x="2331720" y="2076189"/>
                </a:lnTo>
                <a:lnTo>
                  <a:pt x="2366010" y="2066207"/>
                </a:lnTo>
                <a:lnTo>
                  <a:pt x="2400300" y="2055051"/>
                </a:lnTo>
                <a:lnTo>
                  <a:pt x="2434590" y="2042721"/>
                </a:lnTo>
                <a:lnTo>
                  <a:pt x="2468880" y="2029216"/>
                </a:lnTo>
                <a:lnTo>
                  <a:pt x="2503170" y="2014537"/>
                </a:lnTo>
                <a:lnTo>
                  <a:pt x="2537460" y="1998684"/>
                </a:lnTo>
                <a:lnTo>
                  <a:pt x="2571750" y="1981656"/>
                </a:lnTo>
                <a:lnTo>
                  <a:pt x="2606040" y="1963454"/>
                </a:lnTo>
                <a:lnTo>
                  <a:pt x="2640330" y="1944078"/>
                </a:lnTo>
                <a:lnTo>
                  <a:pt x="2674620" y="1923528"/>
                </a:lnTo>
                <a:lnTo>
                  <a:pt x="2708910" y="1901803"/>
                </a:lnTo>
                <a:lnTo>
                  <a:pt x="2743200" y="1878904"/>
                </a:lnTo>
                <a:lnTo>
                  <a:pt x="2777490" y="1854830"/>
                </a:lnTo>
                <a:lnTo>
                  <a:pt x="2811780" y="1829582"/>
                </a:lnTo>
                <a:lnTo>
                  <a:pt x="2846070" y="1803160"/>
                </a:lnTo>
                <a:lnTo>
                  <a:pt x="2880360" y="1775564"/>
                </a:lnTo>
                <a:lnTo>
                  <a:pt x="2914650" y="1746793"/>
                </a:lnTo>
                <a:lnTo>
                  <a:pt x="2948940" y="1716848"/>
                </a:lnTo>
                <a:lnTo>
                  <a:pt x="2983230" y="1685729"/>
                </a:lnTo>
                <a:lnTo>
                  <a:pt x="3017520" y="1653435"/>
                </a:lnTo>
                <a:lnTo>
                  <a:pt x="3051810" y="1619967"/>
                </a:lnTo>
                <a:lnTo>
                  <a:pt x="3086100" y="1585325"/>
                </a:lnTo>
                <a:lnTo>
                  <a:pt x="3120390" y="1549508"/>
                </a:lnTo>
                <a:lnTo>
                  <a:pt x="3154680" y="1512517"/>
                </a:lnTo>
                <a:lnTo>
                  <a:pt x="3188970" y="1474352"/>
                </a:lnTo>
                <a:lnTo>
                  <a:pt x="3223260" y="1435013"/>
                </a:lnTo>
                <a:lnTo>
                  <a:pt x="3257550" y="1394499"/>
                </a:lnTo>
                <a:lnTo>
                  <a:pt x="3291840" y="1352811"/>
                </a:lnTo>
                <a:lnTo>
                  <a:pt x="3326130" y="1309948"/>
                </a:lnTo>
                <a:lnTo>
                  <a:pt x="3360420" y="1265911"/>
                </a:lnTo>
                <a:lnTo>
                  <a:pt x="3394710" y="1220700"/>
                </a:lnTo>
                <a:lnTo>
                  <a:pt x="3429000" y="1174315"/>
                </a:lnTo>
                <a:lnTo>
                  <a:pt x="3463290" y="1126755"/>
                </a:lnTo>
                <a:lnTo>
                  <a:pt x="3497580" y="1078021"/>
                </a:lnTo>
                <a:lnTo>
                  <a:pt x="3531870" y="1028112"/>
                </a:lnTo>
                <a:lnTo>
                  <a:pt x="3566160" y="977030"/>
                </a:lnTo>
                <a:lnTo>
                  <a:pt x="3600450" y="924773"/>
                </a:lnTo>
                <a:lnTo>
                  <a:pt x="3634740" y="871341"/>
                </a:lnTo>
                <a:lnTo>
                  <a:pt x="3669030" y="816736"/>
                </a:lnTo>
                <a:lnTo>
                  <a:pt x="3703320" y="760956"/>
                </a:lnTo>
                <a:lnTo>
                  <a:pt x="3737610" y="704002"/>
                </a:lnTo>
                <a:lnTo>
                  <a:pt x="3771900" y="645873"/>
                </a:lnTo>
                <a:lnTo>
                  <a:pt x="3806190" y="586570"/>
                </a:lnTo>
                <a:lnTo>
                  <a:pt x="3840480" y="526093"/>
                </a:lnTo>
                <a:lnTo>
                  <a:pt x="3874770" y="464441"/>
                </a:lnTo>
                <a:lnTo>
                  <a:pt x="3909060" y="401615"/>
                </a:lnTo>
                <a:lnTo>
                  <a:pt x="3943350" y="337615"/>
                </a:lnTo>
                <a:lnTo>
                  <a:pt x="3977640" y="272441"/>
                </a:lnTo>
                <a:lnTo>
                  <a:pt x="4011930" y="206092"/>
                </a:lnTo>
                <a:lnTo>
                  <a:pt x="4046220" y="138569"/>
                </a:lnTo>
                <a:lnTo>
                  <a:pt x="4080510" y="69871"/>
                </a:lnTo>
                <a:lnTo>
                  <a:pt x="4114800" y="0"/>
                </a:lnTo>
              </a:path>
            </a:pathLst>
          </a:custGeom>
          <a:noFill/>
          <a:ln w="3175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452360" y="3209168"/>
            <a:ext cx="790041" cy="98701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42401" y="4196179"/>
            <a:ext cx="410822" cy="26688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53223" y="4463066"/>
            <a:ext cx="213627" cy="7216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66850" y="4535233"/>
            <a:ext cx="111086" cy="1951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77936" y="4554747"/>
            <a:ext cx="57765" cy="5276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35701" y="4560023"/>
            <a:ext cx="30038" cy="142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5739" y="4561450"/>
            <a:ext cx="15619" cy="386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81358" y="4561836"/>
            <a:ext cx="8122" cy="10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89480" y="4561940"/>
            <a:ext cx="4224" cy="2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93704" y="4561968"/>
            <a:ext cx="2196" cy="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95900" y="4561976"/>
            <a:ext cx="1142" cy="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97042" y="4561978"/>
            <a:ext cx="594" cy="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97636" y="4561978"/>
            <a:ext cx="309" cy="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402983" y="3159791"/>
            <a:ext cx="98754" cy="98754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93024" y="4146802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03846" y="4413689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17473" y="4485856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28559" y="4505370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86324" y="4510646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16362" y="4512073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031981" y="4512459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40103" y="4512563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44327" y="4512591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46523" y="4512599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47665" y="4512601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48259" y="4512601"/>
            <a:ext cx="98754" cy="98754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48568" y="4512602"/>
            <a:ext cx="98754" cy="98754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502920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横軸 = パラメータ x、縦軸 = 損失 f(x)。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黄=スタート、赤=現在地。低い方へ一歩ずつ。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1ステップの中身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勾配（傾き）の逆向きに、学習率の分だけ動く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100584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A2030"/>
                </a:solidFill>
                <a:latin typeface="Consolas"/>
              </a:rPr>
              <a:t>x  ←  x  −  η · f′(x)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2697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2F7FD9"/>
                </a:solidFill>
                <a:latin typeface="Consola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A2030"/>
                </a:solidFill>
                <a:latin typeface="Meiryo"/>
              </a:rPr>
              <a:t>パラメータ（つまみ）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いま調整している値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2697480"/>
            <a:ext cx="2697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283464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FFD24A"/>
                </a:solidFill>
                <a:latin typeface="Consolas"/>
              </a:rPr>
              <a:t>f′(x)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474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A2030"/>
                </a:solidFill>
                <a:latin typeface="Meiryo"/>
              </a:rPr>
              <a:t>勾配（傾き）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84048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坂がどっち向きに急か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2697480"/>
            <a:ext cx="2697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283464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4ADE80"/>
                </a:solidFill>
                <a:latin typeface="Consolas"/>
              </a:rP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3474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A2030"/>
                </a:solidFill>
                <a:latin typeface="Meiryo"/>
              </a:rPr>
              <a:t>逆向き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384048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上りではなく下りへ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2697480"/>
            <a:ext cx="2697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06256" y="283464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FF6B6B"/>
                </a:solidFill>
                <a:latin typeface="Consolas"/>
              </a:rPr>
              <a:t>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474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A2030"/>
                </a:solidFill>
                <a:latin typeface="Meiryo"/>
              </a:rPr>
              <a:t>学習率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384048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一歩の大きさ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11247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548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F7FD9"/>
                </a:solidFill>
                <a:latin typeface="Meiryo"/>
              </a:rPr>
              <a:t>なぜ「傾きの逆向き」？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6636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傾き f′(x) は「x を増やすと損失がどれだけ増えるか」。プラスなら右が上り坂 → 左（−方向）へ動けば損失が減る。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1A2030"/>
                </a:solidFill>
                <a:latin typeface="Meiryo"/>
              </a:rPr>
              <a:t>だから </a:t>
            </a:r>
            <a:r>
              <a:rPr sz="1450" b="1">
                <a:solidFill>
                  <a:srgbClr val="2F7FD9"/>
                </a:solidFill>
                <a:latin typeface="Meiryo"/>
              </a:rPr>
              <a:t>勾配の符号と逆</a:t>
            </a:r>
            <a:r>
              <a:rPr sz="1450" b="0">
                <a:solidFill>
                  <a:srgbClr val="1A2030"/>
                </a:solidFill>
                <a:latin typeface="Meiryo"/>
              </a:rPr>
              <a:t> に動かす。これを何百万個のパラメータすべてに同時に行うのが AI の学習。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学習率 η が結果を左右する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小さすぎ→遅い / ちょうど→収束 / 大きすぎ→発散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5D6B82"/>
                </a:solidFill>
                <a:latin typeface="Meiryo"/>
              </a:rPr>
              <a:t>η = 0.1（小さすぎ）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なかなか進まない＝学習が遅い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846320"/>
            <a:ext cx="3200400" cy="0"/>
          </a:xfrm>
          <a:prstGeom prst="line">
            <a:avLst/>
          </a:prstGeom>
          <a:ln w="12700">
            <a:solidFill>
              <a:srgbClr val="D6DC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6000" y="2468880"/>
            <a:ext cx="0" cy="2377440"/>
          </a:xfrm>
          <a:prstGeom prst="line">
            <a:avLst/>
          </a:prstGeom>
          <a:ln w="12700">
            <a:solidFill>
              <a:srgbClr val="C084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685800" y="2713137"/>
            <a:ext cx="3200400" cy="2035479"/>
          </a:xfrm>
          <a:custGeom>
            <a:avLst/>
            <a:gdLst/>
            <a:ahLst/>
            <a:cxnLst/>
            <a:rect l="l" t="t" r="r" b="b"/>
            <a:pathLst>
              <a:path w="3200400" h="2035479">
                <a:moveTo>
                  <a:pt x="0" y="0"/>
                </a:moveTo>
                <a:lnTo>
                  <a:pt x="26669" y="67284"/>
                </a:lnTo>
                <a:lnTo>
                  <a:pt x="53340" y="133437"/>
                </a:lnTo>
                <a:lnTo>
                  <a:pt x="80010" y="198459"/>
                </a:lnTo>
                <a:lnTo>
                  <a:pt x="106679" y="262351"/>
                </a:lnTo>
                <a:lnTo>
                  <a:pt x="133350" y="325111"/>
                </a:lnTo>
                <a:lnTo>
                  <a:pt x="160020" y="386741"/>
                </a:lnTo>
                <a:lnTo>
                  <a:pt x="186689" y="447240"/>
                </a:lnTo>
                <a:lnTo>
                  <a:pt x="213360" y="506608"/>
                </a:lnTo>
                <a:lnTo>
                  <a:pt x="240030" y="564846"/>
                </a:lnTo>
                <a:lnTo>
                  <a:pt x="266699" y="621952"/>
                </a:lnTo>
                <a:lnTo>
                  <a:pt x="293370" y="677928"/>
                </a:lnTo>
                <a:lnTo>
                  <a:pt x="320040" y="732773"/>
                </a:lnTo>
                <a:lnTo>
                  <a:pt x="346710" y="786487"/>
                </a:lnTo>
                <a:lnTo>
                  <a:pt x="373380" y="839070"/>
                </a:lnTo>
                <a:lnTo>
                  <a:pt x="400050" y="890522"/>
                </a:lnTo>
                <a:lnTo>
                  <a:pt x="426720" y="940844"/>
                </a:lnTo>
                <a:lnTo>
                  <a:pt x="453390" y="990035"/>
                </a:lnTo>
                <a:lnTo>
                  <a:pt x="480060" y="1038095"/>
                </a:lnTo>
                <a:lnTo>
                  <a:pt x="506730" y="1085024"/>
                </a:lnTo>
                <a:lnTo>
                  <a:pt x="533400" y="1130822"/>
                </a:lnTo>
                <a:lnTo>
                  <a:pt x="560070" y="1175489"/>
                </a:lnTo>
                <a:lnTo>
                  <a:pt x="586740" y="1219026"/>
                </a:lnTo>
                <a:lnTo>
                  <a:pt x="613410" y="1261432"/>
                </a:lnTo>
                <a:lnTo>
                  <a:pt x="640080" y="1302707"/>
                </a:lnTo>
                <a:lnTo>
                  <a:pt x="666750" y="1342851"/>
                </a:lnTo>
                <a:lnTo>
                  <a:pt x="693420" y="1381864"/>
                </a:lnTo>
                <a:lnTo>
                  <a:pt x="720090" y="1419747"/>
                </a:lnTo>
                <a:lnTo>
                  <a:pt x="746760" y="1456499"/>
                </a:lnTo>
                <a:lnTo>
                  <a:pt x="773430" y="1492120"/>
                </a:lnTo>
                <a:lnTo>
                  <a:pt x="800100" y="1526610"/>
                </a:lnTo>
                <a:lnTo>
                  <a:pt x="826770" y="1559969"/>
                </a:lnTo>
                <a:lnTo>
                  <a:pt x="853440" y="1592197"/>
                </a:lnTo>
                <a:lnTo>
                  <a:pt x="880110" y="1623295"/>
                </a:lnTo>
                <a:lnTo>
                  <a:pt x="906780" y="1653262"/>
                </a:lnTo>
                <a:lnTo>
                  <a:pt x="933450" y="1682098"/>
                </a:lnTo>
                <a:lnTo>
                  <a:pt x="960120" y="1709803"/>
                </a:lnTo>
                <a:lnTo>
                  <a:pt x="986790" y="1736377"/>
                </a:lnTo>
                <a:lnTo>
                  <a:pt x="1013460" y="1761821"/>
                </a:lnTo>
                <a:lnTo>
                  <a:pt x="1040130" y="1786133"/>
                </a:lnTo>
                <a:lnTo>
                  <a:pt x="1066800" y="1809315"/>
                </a:lnTo>
                <a:lnTo>
                  <a:pt x="1093470" y="1831366"/>
                </a:lnTo>
                <a:lnTo>
                  <a:pt x="1120140" y="1852286"/>
                </a:lnTo>
                <a:lnTo>
                  <a:pt x="1146810" y="1872076"/>
                </a:lnTo>
                <a:lnTo>
                  <a:pt x="1173480" y="1890734"/>
                </a:lnTo>
                <a:lnTo>
                  <a:pt x="1200150" y="1908262"/>
                </a:lnTo>
                <a:lnTo>
                  <a:pt x="1226820" y="1924659"/>
                </a:lnTo>
                <a:lnTo>
                  <a:pt x="1253490" y="1939925"/>
                </a:lnTo>
                <a:lnTo>
                  <a:pt x="1280160" y="1954060"/>
                </a:lnTo>
                <a:lnTo>
                  <a:pt x="1306830" y="1967065"/>
                </a:lnTo>
                <a:lnTo>
                  <a:pt x="1333500" y="1978938"/>
                </a:lnTo>
                <a:lnTo>
                  <a:pt x="1360170" y="1989681"/>
                </a:lnTo>
                <a:lnTo>
                  <a:pt x="1386839" y="1999293"/>
                </a:lnTo>
                <a:lnTo>
                  <a:pt x="1413510" y="2007774"/>
                </a:lnTo>
                <a:lnTo>
                  <a:pt x="1440180" y="2015125"/>
                </a:lnTo>
                <a:lnTo>
                  <a:pt x="1466850" y="2021344"/>
                </a:lnTo>
                <a:lnTo>
                  <a:pt x="1493520" y="2026433"/>
                </a:lnTo>
                <a:lnTo>
                  <a:pt x="1520190" y="2030391"/>
                </a:lnTo>
                <a:lnTo>
                  <a:pt x="1546860" y="2033218"/>
                </a:lnTo>
                <a:lnTo>
                  <a:pt x="1573530" y="2034914"/>
                </a:lnTo>
                <a:lnTo>
                  <a:pt x="1600200" y="2035479"/>
                </a:lnTo>
                <a:lnTo>
                  <a:pt x="1626870" y="2034914"/>
                </a:lnTo>
                <a:lnTo>
                  <a:pt x="1653540" y="2033218"/>
                </a:lnTo>
                <a:lnTo>
                  <a:pt x="1680210" y="2030391"/>
                </a:lnTo>
                <a:lnTo>
                  <a:pt x="1706880" y="2026433"/>
                </a:lnTo>
                <a:lnTo>
                  <a:pt x="1733550" y="2021344"/>
                </a:lnTo>
                <a:lnTo>
                  <a:pt x="1760220" y="2015125"/>
                </a:lnTo>
                <a:lnTo>
                  <a:pt x="1786890" y="2007774"/>
                </a:lnTo>
                <a:lnTo>
                  <a:pt x="1813560" y="1999293"/>
                </a:lnTo>
                <a:lnTo>
                  <a:pt x="1840230" y="1989681"/>
                </a:lnTo>
                <a:lnTo>
                  <a:pt x="1866900" y="1978938"/>
                </a:lnTo>
                <a:lnTo>
                  <a:pt x="1893570" y="1967065"/>
                </a:lnTo>
                <a:lnTo>
                  <a:pt x="1920240" y="1954060"/>
                </a:lnTo>
                <a:lnTo>
                  <a:pt x="1946910" y="1939925"/>
                </a:lnTo>
                <a:lnTo>
                  <a:pt x="1973580" y="1924659"/>
                </a:lnTo>
                <a:lnTo>
                  <a:pt x="2000250" y="1908262"/>
                </a:lnTo>
                <a:lnTo>
                  <a:pt x="2026920" y="1890734"/>
                </a:lnTo>
                <a:lnTo>
                  <a:pt x="2053590" y="1872076"/>
                </a:lnTo>
                <a:lnTo>
                  <a:pt x="2080260" y="1852286"/>
                </a:lnTo>
                <a:lnTo>
                  <a:pt x="2106930" y="1831366"/>
                </a:lnTo>
                <a:lnTo>
                  <a:pt x="2133600" y="1809315"/>
                </a:lnTo>
                <a:lnTo>
                  <a:pt x="2160270" y="1786133"/>
                </a:lnTo>
                <a:lnTo>
                  <a:pt x="2186940" y="1761821"/>
                </a:lnTo>
                <a:lnTo>
                  <a:pt x="2213610" y="1736377"/>
                </a:lnTo>
                <a:lnTo>
                  <a:pt x="2240280" y="1709803"/>
                </a:lnTo>
                <a:lnTo>
                  <a:pt x="2266949" y="1682098"/>
                </a:lnTo>
                <a:lnTo>
                  <a:pt x="2293620" y="1653262"/>
                </a:lnTo>
                <a:lnTo>
                  <a:pt x="2320290" y="1623295"/>
                </a:lnTo>
                <a:lnTo>
                  <a:pt x="2346960" y="1592197"/>
                </a:lnTo>
                <a:lnTo>
                  <a:pt x="2373630" y="1559969"/>
                </a:lnTo>
                <a:lnTo>
                  <a:pt x="2400300" y="1526610"/>
                </a:lnTo>
                <a:lnTo>
                  <a:pt x="2426970" y="1492120"/>
                </a:lnTo>
                <a:lnTo>
                  <a:pt x="2453640" y="1456499"/>
                </a:lnTo>
                <a:lnTo>
                  <a:pt x="2480310" y="1419747"/>
                </a:lnTo>
                <a:lnTo>
                  <a:pt x="2506980" y="1381864"/>
                </a:lnTo>
                <a:lnTo>
                  <a:pt x="2533650" y="1342851"/>
                </a:lnTo>
                <a:lnTo>
                  <a:pt x="2560320" y="1302707"/>
                </a:lnTo>
                <a:lnTo>
                  <a:pt x="2586990" y="1261432"/>
                </a:lnTo>
                <a:lnTo>
                  <a:pt x="2613660" y="1219026"/>
                </a:lnTo>
                <a:lnTo>
                  <a:pt x="2640330" y="1175489"/>
                </a:lnTo>
                <a:lnTo>
                  <a:pt x="2667000" y="1130822"/>
                </a:lnTo>
                <a:lnTo>
                  <a:pt x="2693669" y="1085024"/>
                </a:lnTo>
                <a:lnTo>
                  <a:pt x="2720340" y="1038095"/>
                </a:lnTo>
                <a:lnTo>
                  <a:pt x="2747010" y="990035"/>
                </a:lnTo>
                <a:lnTo>
                  <a:pt x="2773679" y="940844"/>
                </a:lnTo>
                <a:lnTo>
                  <a:pt x="2800350" y="890522"/>
                </a:lnTo>
                <a:lnTo>
                  <a:pt x="2827020" y="839070"/>
                </a:lnTo>
                <a:lnTo>
                  <a:pt x="2853690" y="786487"/>
                </a:lnTo>
                <a:lnTo>
                  <a:pt x="2880360" y="732773"/>
                </a:lnTo>
                <a:lnTo>
                  <a:pt x="2907030" y="677928"/>
                </a:lnTo>
                <a:lnTo>
                  <a:pt x="2933700" y="621952"/>
                </a:lnTo>
                <a:lnTo>
                  <a:pt x="2960370" y="564846"/>
                </a:lnTo>
                <a:lnTo>
                  <a:pt x="2987040" y="506608"/>
                </a:lnTo>
                <a:lnTo>
                  <a:pt x="3013710" y="447240"/>
                </a:lnTo>
                <a:lnTo>
                  <a:pt x="3040380" y="386741"/>
                </a:lnTo>
                <a:lnTo>
                  <a:pt x="3067050" y="325111"/>
                </a:lnTo>
                <a:lnTo>
                  <a:pt x="3093719" y="262351"/>
                </a:lnTo>
                <a:lnTo>
                  <a:pt x="3120390" y="198459"/>
                </a:lnTo>
                <a:lnTo>
                  <a:pt x="3147060" y="133437"/>
                </a:lnTo>
                <a:lnTo>
                  <a:pt x="3173729" y="67284"/>
                </a:lnTo>
                <a:lnTo>
                  <a:pt x="3200400" y="0"/>
                </a:lnTo>
              </a:path>
            </a:pathLst>
          </a:custGeom>
          <a:noFill/>
          <a:ln w="3175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445910"/>
            <a:ext cx="102412" cy="200095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08252" y="3646005"/>
            <a:ext cx="94220" cy="16936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02472" y="3815367"/>
            <a:ext cx="86682" cy="14334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89154" y="3958714"/>
            <a:ext cx="79748" cy="121329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8902" y="4080043"/>
            <a:ext cx="73368" cy="102693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42270" y="4182736"/>
            <a:ext cx="67498" cy="86919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09768" y="4269655"/>
            <a:ext cx="62099" cy="7356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71867" y="4343223"/>
            <a:ext cx="57130" cy="62269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28997" y="4405492"/>
            <a:ext cx="52560" cy="5270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81557" y="4458196"/>
            <a:ext cx="48356" cy="4460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29913" y="4502804"/>
            <a:ext cx="44487" cy="3775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74400" y="4540561"/>
            <a:ext cx="40928" cy="3195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5328" y="4572518"/>
            <a:ext cx="37653" cy="27049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52981" y="4599567"/>
            <a:ext cx="34642" cy="2289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87623" y="4622461"/>
            <a:ext cx="31870" cy="1937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19493" y="4641838"/>
            <a:ext cx="29321" cy="1640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8814" y="4658240"/>
            <a:ext cx="26974" cy="1388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75788" y="4672121"/>
            <a:ext cx="24817" cy="1175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00605" y="4683871"/>
            <a:ext cx="22832" cy="9945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23437" y="4693816"/>
            <a:ext cx="21005" cy="841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44442" y="4702233"/>
            <a:ext cx="19324" cy="7125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63766" y="4709358"/>
            <a:ext cx="17779" cy="603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081545" y="4715388"/>
            <a:ext cx="16356" cy="510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97901" y="4720492"/>
            <a:ext cx="15048" cy="432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12949" y="4724812"/>
            <a:ext cx="13844" cy="3656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26793" y="4728468"/>
            <a:ext cx="12737" cy="3095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39530" y="4731563"/>
            <a:ext cx="11717" cy="2619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51247" y="4734182"/>
            <a:ext cx="10781" cy="221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162028" y="4736399"/>
            <a:ext cx="9917" cy="187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171945" y="4738276"/>
            <a:ext cx="9125" cy="158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181070" y="4739864"/>
            <a:ext cx="8394" cy="1345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189464" y="4741209"/>
            <a:ext cx="7723" cy="113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197187" y="4742346"/>
            <a:ext cx="7105" cy="963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04292" y="4743309"/>
            <a:ext cx="6536" cy="816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10828" y="4744125"/>
            <a:ext cx="6014" cy="69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16842" y="4744815"/>
            <a:ext cx="5533" cy="58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22375" y="4745399"/>
            <a:ext cx="5090" cy="49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227465" y="4745893"/>
            <a:ext cx="4683" cy="41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32148" y="4746311"/>
            <a:ext cx="4308" cy="35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236456" y="4746665"/>
            <a:ext cx="3963" cy="30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958292" y="3398362"/>
            <a:ext cx="95096" cy="95096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704" y="3598457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54924" y="3767819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241606" y="3911166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321354" y="4032495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94722" y="413518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462220" y="4222107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524319" y="4295675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581449" y="4357944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634009" y="441064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682365" y="4455256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726852" y="4493013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767780" y="452497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805433" y="4552019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40075" y="4574913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871945" y="459429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901266" y="4610692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928240" y="4624573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53057" y="4636323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975889" y="464626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996894" y="4654685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016218" y="466181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033997" y="466784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050353" y="4672944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065401" y="4677264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079245" y="468092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091982" y="4684015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103699" y="4686634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114480" y="468885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124397" y="469072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133522" y="4692316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141916" y="469366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149639" y="469479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156744" y="469576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163280" y="4696577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169294" y="4697267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174827" y="469785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179917" y="4698345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184600" y="4698763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188908" y="4699117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192871" y="4699417"/>
            <a:ext cx="95096" cy="9509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" y="50292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5D6B82"/>
                </a:solidFill>
                <a:latin typeface="Meiryo"/>
              </a:rPr>
              <a:t>40 歩でもまだ底に届かず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54864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D6B82"/>
                </a:solidFill>
                <a:latin typeface="Meiryo"/>
              </a:rPr>
              <a:t>黄=開始、赤=最後の位置。点は1ステップごとの位置。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251960" y="141732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34840" y="153619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ADE80"/>
                </a:solidFill>
                <a:latin typeface="Meiryo"/>
              </a:rPr>
              <a:t>η = 0.6（ちょうど良い）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34840" y="19202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すっと谷の底へ収束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480560" y="4846320"/>
            <a:ext cx="3200400" cy="0"/>
          </a:xfrm>
          <a:prstGeom prst="line">
            <a:avLst/>
          </a:prstGeom>
          <a:ln w="12700">
            <a:solidFill>
              <a:srgbClr val="D6DC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080760" y="2468880"/>
            <a:ext cx="0" cy="2377440"/>
          </a:xfrm>
          <a:prstGeom prst="line">
            <a:avLst/>
          </a:prstGeom>
          <a:ln w="12700">
            <a:solidFill>
              <a:srgbClr val="C084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4480560" y="2713137"/>
            <a:ext cx="3200400" cy="2035479"/>
          </a:xfrm>
          <a:custGeom>
            <a:avLst/>
            <a:gdLst/>
            <a:ahLst/>
            <a:cxnLst/>
            <a:rect l="l" t="t" r="r" b="b"/>
            <a:pathLst>
              <a:path w="3200400" h="2035479">
                <a:moveTo>
                  <a:pt x="0" y="0"/>
                </a:moveTo>
                <a:lnTo>
                  <a:pt x="26670" y="67284"/>
                </a:lnTo>
                <a:lnTo>
                  <a:pt x="53340" y="133437"/>
                </a:lnTo>
                <a:lnTo>
                  <a:pt x="80010" y="198459"/>
                </a:lnTo>
                <a:lnTo>
                  <a:pt x="106680" y="262351"/>
                </a:lnTo>
                <a:lnTo>
                  <a:pt x="133350" y="325111"/>
                </a:lnTo>
                <a:lnTo>
                  <a:pt x="160020" y="386741"/>
                </a:lnTo>
                <a:lnTo>
                  <a:pt x="186690" y="447240"/>
                </a:lnTo>
                <a:lnTo>
                  <a:pt x="213360" y="506608"/>
                </a:lnTo>
                <a:lnTo>
                  <a:pt x="240030" y="564846"/>
                </a:lnTo>
                <a:lnTo>
                  <a:pt x="266700" y="621952"/>
                </a:lnTo>
                <a:lnTo>
                  <a:pt x="293370" y="677928"/>
                </a:lnTo>
                <a:lnTo>
                  <a:pt x="320040" y="732773"/>
                </a:lnTo>
                <a:lnTo>
                  <a:pt x="346710" y="786487"/>
                </a:lnTo>
                <a:lnTo>
                  <a:pt x="373380" y="839070"/>
                </a:lnTo>
                <a:lnTo>
                  <a:pt x="400050" y="890522"/>
                </a:lnTo>
                <a:lnTo>
                  <a:pt x="426720" y="940844"/>
                </a:lnTo>
                <a:lnTo>
                  <a:pt x="453390" y="990035"/>
                </a:lnTo>
                <a:lnTo>
                  <a:pt x="480060" y="1038095"/>
                </a:lnTo>
                <a:lnTo>
                  <a:pt x="506730" y="1085024"/>
                </a:lnTo>
                <a:lnTo>
                  <a:pt x="533400" y="1130822"/>
                </a:lnTo>
                <a:lnTo>
                  <a:pt x="560070" y="1175489"/>
                </a:lnTo>
                <a:lnTo>
                  <a:pt x="586740" y="1219026"/>
                </a:lnTo>
                <a:lnTo>
                  <a:pt x="613410" y="1261432"/>
                </a:lnTo>
                <a:lnTo>
                  <a:pt x="640080" y="1302707"/>
                </a:lnTo>
                <a:lnTo>
                  <a:pt x="666750" y="1342851"/>
                </a:lnTo>
                <a:lnTo>
                  <a:pt x="693420" y="1381864"/>
                </a:lnTo>
                <a:lnTo>
                  <a:pt x="720090" y="1419747"/>
                </a:lnTo>
                <a:lnTo>
                  <a:pt x="746760" y="1456499"/>
                </a:lnTo>
                <a:lnTo>
                  <a:pt x="773430" y="1492120"/>
                </a:lnTo>
                <a:lnTo>
                  <a:pt x="800100" y="1526610"/>
                </a:lnTo>
                <a:lnTo>
                  <a:pt x="826770" y="1559969"/>
                </a:lnTo>
                <a:lnTo>
                  <a:pt x="853440" y="1592197"/>
                </a:lnTo>
                <a:lnTo>
                  <a:pt x="880110" y="1623295"/>
                </a:lnTo>
                <a:lnTo>
                  <a:pt x="906780" y="1653262"/>
                </a:lnTo>
                <a:lnTo>
                  <a:pt x="933450" y="1682098"/>
                </a:lnTo>
                <a:lnTo>
                  <a:pt x="960120" y="1709803"/>
                </a:lnTo>
                <a:lnTo>
                  <a:pt x="986790" y="1736377"/>
                </a:lnTo>
                <a:lnTo>
                  <a:pt x="1013460" y="1761821"/>
                </a:lnTo>
                <a:lnTo>
                  <a:pt x="1040130" y="1786133"/>
                </a:lnTo>
                <a:lnTo>
                  <a:pt x="1066800" y="1809315"/>
                </a:lnTo>
                <a:lnTo>
                  <a:pt x="1093470" y="1831366"/>
                </a:lnTo>
                <a:lnTo>
                  <a:pt x="1120140" y="1852286"/>
                </a:lnTo>
                <a:lnTo>
                  <a:pt x="1146810" y="1872076"/>
                </a:lnTo>
                <a:lnTo>
                  <a:pt x="1173480" y="1890734"/>
                </a:lnTo>
                <a:lnTo>
                  <a:pt x="1200150" y="1908262"/>
                </a:lnTo>
                <a:lnTo>
                  <a:pt x="1226820" y="1924659"/>
                </a:lnTo>
                <a:lnTo>
                  <a:pt x="1253490" y="1939925"/>
                </a:lnTo>
                <a:lnTo>
                  <a:pt x="1280160" y="1954060"/>
                </a:lnTo>
                <a:lnTo>
                  <a:pt x="1306830" y="1967065"/>
                </a:lnTo>
                <a:lnTo>
                  <a:pt x="1333500" y="1978938"/>
                </a:lnTo>
                <a:lnTo>
                  <a:pt x="1360170" y="1989681"/>
                </a:lnTo>
                <a:lnTo>
                  <a:pt x="1386840" y="1999293"/>
                </a:lnTo>
                <a:lnTo>
                  <a:pt x="1413510" y="2007774"/>
                </a:lnTo>
                <a:lnTo>
                  <a:pt x="1440180" y="2015125"/>
                </a:lnTo>
                <a:lnTo>
                  <a:pt x="1466850" y="2021344"/>
                </a:lnTo>
                <a:lnTo>
                  <a:pt x="1493520" y="2026433"/>
                </a:lnTo>
                <a:lnTo>
                  <a:pt x="1520190" y="2030391"/>
                </a:lnTo>
                <a:lnTo>
                  <a:pt x="1546860" y="2033218"/>
                </a:lnTo>
                <a:lnTo>
                  <a:pt x="1573530" y="2034914"/>
                </a:lnTo>
                <a:lnTo>
                  <a:pt x="1600200" y="2035479"/>
                </a:lnTo>
                <a:lnTo>
                  <a:pt x="1626870" y="2034914"/>
                </a:lnTo>
                <a:lnTo>
                  <a:pt x="1653540" y="2033218"/>
                </a:lnTo>
                <a:lnTo>
                  <a:pt x="1680210" y="2030391"/>
                </a:lnTo>
                <a:lnTo>
                  <a:pt x="1706880" y="2026433"/>
                </a:lnTo>
                <a:lnTo>
                  <a:pt x="1733550" y="2021344"/>
                </a:lnTo>
                <a:lnTo>
                  <a:pt x="1760220" y="2015125"/>
                </a:lnTo>
                <a:lnTo>
                  <a:pt x="1786890" y="2007774"/>
                </a:lnTo>
                <a:lnTo>
                  <a:pt x="1813560" y="1999293"/>
                </a:lnTo>
                <a:lnTo>
                  <a:pt x="1840230" y="1989681"/>
                </a:lnTo>
                <a:lnTo>
                  <a:pt x="1866900" y="1978938"/>
                </a:lnTo>
                <a:lnTo>
                  <a:pt x="1893570" y="1967065"/>
                </a:lnTo>
                <a:lnTo>
                  <a:pt x="1920240" y="1954060"/>
                </a:lnTo>
                <a:lnTo>
                  <a:pt x="1946910" y="1939925"/>
                </a:lnTo>
                <a:lnTo>
                  <a:pt x="1973580" y="1924659"/>
                </a:lnTo>
                <a:lnTo>
                  <a:pt x="2000250" y="1908262"/>
                </a:lnTo>
                <a:lnTo>
                  <a:pt x="2026920" y="1890734"/>
                </a:lnTo>
                <a:lnTo>
                  <a:pt x="2053590" y="1872076"/>
                </a:lnTo>
                <a:lnTo>
                  <a:pt x="2080260" y="1852286"/>
                </a:lnTo>
                <a:lnTo>
                  <a:pt x="2106930" y="1831366"/>
                </a:lnTo>
                <a:lnTo>
                  <a:pt x="2133600" y="1809315"/>
                </a:lnTo>
                <a:lnTo>
                  <a:pt x="2160270" y="1786133"/>
                </a:lnTo>
                <a:lnTo>
                  <a:pt x="2186940" y="1761821"/>
                </a:lnTo>
                <a:lnTo>
                  <a:pt x="2213610" y="1736377"/>
                </a:lnTo>
                <a:lnTo>
                  <a:pt x="2240280" y="1709803"/>
                </a:lnTo>
                <a:lnTo>
                  <a:pt x="2266950" y="1682098"/>
                </a:lnTo>
                <a:lnTo>
                  <a:pt x="2293620" y="1653262"/>
                </a:lnTo>
                <a:lnTo>
                  <a:pt x="2320290" y="1623295"/>
                </a:lnTo>
                <a:lnTo>
                  <a:pt x="2346960" y="1592197"/>
                </a:lnTo>
                <a:lnTo>
                  <a:pt x="2373630" y="1559969"/>
                </a:lnTo>
                <a:lnTo>
                  <a:pt x="2400300" y="1526610"/>
                </a:lnTo>
                <a:lnTo>
                  <a:pt x="2426970" y="1492120"/>
                </a:lnTo>
                <a:lnTo>
                  <a:pt x="2453640" y="1456499"/>
                </a:lnTo>
                <a:lnTo>
                  <a:pt x="2480310" y="1419747"/>
                </a:lnTo>
                <a:lnTo>
                  <a:pt x="2506980" y="1381864"/>
                </a:lnTo>
                <a:lnTo>
                  <a:pt x="2533650" y="1342851"/>
                </a:lnTo>
                <a:lnTo>
                  <a:pt x="2560320" y="1302707"/>
                </a:lnTo>
                <a:lnTo>
                  <a:pt x="2586990" y="1261432"/>
                </a:lnTo>
                <a:lnTo>
                  <a:pt x="2613660" y="1219026"/>
                </a:lnTo>
                <a:lnTo>
                  <a:pt x="2640330" y="1175489"/>
                </a:lnTo>
                <a:lnTo>
                  <a:pt x="2667000" y="1130822"/>
                </a:lnTo>
                <a:lnTo>
                  <a:pt x="2693670" y="1085024"/>
                </a:lnTo>
                <a:lnTo>
                  <a:pt x="2720340" y="1038095"/>
                </a:lnTo>
                <a:lnTo>
                  <a:pt x="2747010" y="990035"/>
                </a:lnTo>
                <a:lnTo>
                  <a:pt x="2773680" y="940844"/>
                </a:lnTo>
                <a:lnTo>
                  <a:pt x="2800350" y="890522"/>
                </a:lnTo>
                <a:lnTo>
                  <a:pt x="2827020" y="839070"/>
                </a:lnTo>
                <a:lnTo>
                  <a:pt x="2853690" y="786487"/>
                </a:lnTo>
                <a:lnTo>
                  <a:pt x="2880360" y="732773"/>
                </a:lnTo>
                <a:lnTo>
                  <a:pt x="2907030" y="677928"/>
                </a:lnTo>
                <a:lnTo>
                  <a:pt x="2933700" y="621952"/>
                </a:lnTo>
                <a:lnTo>
                  <a:pt x="2960370" y="564846"/>
                </a:lnTo>
                <a:lnTo>
                  <a:pt x="2987040" y="506608"/>
                </a:lnTo>
                <a:lnTo>
                  <a:pt x="3013710" y="447240"/>
                </a:lnTo>
                <a:lnTo>
                  <a:pt x="3040380" y="386741"/>
                </a:lnTo>
                <a:lnTo>
                  <a:pt x="3067050" y="325111"/>
                </a:lnTo>
                <a:lnTo>
                  <a:pt x="3093720" y="262351"/>
                </a:lnTo>
                <a:lnTo>
                  <a:pt x="3120390" y="198459"/>
                </a:lnTo>
                <a:lnTo>
                  <a:pt x="3147060" y="133437"/>
                </a:lnTo>
                <a:lnTo>
                  <a:pt x="3173730" y="67284"/>
                </a:lnTo>
                <a:lnTo>
                  <a:pt x="3200400" y="0"/>
                </a:lnTo>
              </a:path>
            </a:pathLst>
          </a:custGeom>
          <a:noFill/>
          <a:ln w="3175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4800600" y="3445910"/>
            <a:ext cx="614476" cy="950455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415076" y="4396365"/>
            <a:ext cx="319528" cy="257003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734604" y="4653368"/>
            <a:ext cx="166155" cy="69493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900759" y="4722861"/>
            <a:ext cx="86400" cy="1879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987159" y="4741652"/>
            <a:ext cx="44928" cy="508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032087" y="4746733"/>
            <a:ext cx="23363" cy="137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055450" y="4748107"/>
            <a:ext cx="12149" cy="37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067599" y="4748479"/>
            <a:ext cx="6317" cy="10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73916" y="4748579"/>
            <a:ext cx="3285" cy="2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077201" y="4748606"/>
            <a:ext cx="1708" cy="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078909" y="4748614"/>
            <a:ext cx="888" cy="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079797" y="4748616"/>
            <a:ext cx="462" cy="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080259" y="4748616"/>
            <a:ext cx="240" cy="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4753052" y="3398362"/>
            <a:ext cx="95096" cy="95096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67528" y="4348817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687056" y="460582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853211" y="4675313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939611" y="4694104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984539" y="4699185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007902" y="4700559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020051" y="470093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026368" y="470103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029653" y="470105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031361" y="4701066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032249" y="470106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032711" y="470106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032951" y="4701068"/>
            <a:ext cx="95096" cy="9509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434840" y="50292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ADE80"/>
                </a:solidFill>
                <a:latin typeface="Meiryo"/>
              </a:rPr>
              <a:t>13 歩で収束 ✅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434840" y="54864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D6B82"/>
                </a:solidFill>
                <a:latin typeface="Meiryo"/>
              </a:rPr>
              <a:t>黄=開始、赤=最後の位置。点は1ステップごとの位置。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046720" y="141732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229600" y="153619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6B6B"/>
                </a:solidFill>
                <a:latin typeface="Meiryo"/>
              </a:rPr>
              <a:t>η = 2.6（大きすぎ）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29600" y="19202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行き過ぎて振動し発散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8275320" y="4846320"/>
            <a:ext cx="3200400" cy="0"/>
          </a:xfrm>
          <a:prstGeom prst="line">
            <a:avLst/>
          </a:prstGeom>
          <a:ln w="12700">
            <a:solidFill>
              <a:srgbClr val="D6DC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875520" y="2468880"/>
            <a:ext cx="0" cy="2377440"/>
          </a:xfrm>
          <a:prstGeom prst="line">
            <a:avLst/>
          </a:prstGeom>
          <a:ln w="12700">
            <a:solidFill>
              <a:srgbClr val="C084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Freeform 135"/>
          <p:cNvSpPr/>
          <p:nvPr/>
        </p:nvSpPr>
        <p:spPr>
          <a:xfrm>
            <a:off x="8275320" y="2713137"/>
            <a:ext cx="3200400" cy="2035479"/>
          </a:xfrm>
          <a:custGeom>
            <a:avLst/>
            <a:gdLst/>
            <a:ahLst/>
            <a:cxnLst/>
            <a:rect l="l" t="t" r="r" b="b"/>
            <a:pathLst>
              <a:path w="3200400" h="2035479">
                <a:moveTo>
                  <a:pt x="0" y="0"/>
                </a:moveTo>
                <a:lnTo>
                  <a:pt x="26670" y="67284"/>
                </a:lnTo>
                <a:lnTo>
                  <a:pt x="53340" y="133437"/>
                </a:lnTo>
                <a:lnTo>
                  <a:pt x="80010" y="198459"/>
                </a:lnTo>
                <a:lnTo>
                  <a:pt x="106680" y="262351"/>
                </a:lnTo>
                <a:lnTo>
                  <a:pt x="133350" y="325111"/>
                </a:lnTo>
                <a:lnTo>
                  <a:pt x="160020" y="386741"/>
                </a:lnTo>
                <a:lnTo>
                  <a:pt x="186690" y="447240"/>
                </a:lnTo>
                <a:lnTo>
                  <a:pt x="213360" y="506608"/>
                </a:lnTo>
                <a:lnTo>
                  <a:pt x="240030" y="564846"/>
                </a:lnTo>
                <a:lnTo>
                  <a:pt x="266700" y="621952"/>
                </a:lnTo>
                <a:lnTo>
                  <a:pt x="293370" y="677928"/>
                </a:lnTo>
                <a:lnTo>
                  <a:pt x="320040" y="732773"/>
                </a:lnTo>
                <a:lnTo>
                  <a:pt x="346710" y="786487"/>
                </a:lnTo>
                <a:lnTo>
                  <a:pt x="373380" y="839070"/>
                </a:lnTo>
                <a:lnTo>
                  <a:pt x="400050" y="890522"/>
                </a:lnTo>
                <a:lnTo>
                  <a:pt x="426720" y="940844"/>
                </a:lnTo>
                <a:lnTo>
                  <a:pt x="453390" y="990035"/>
                </a:lnTo>
                <a:lnTo>
                  <a:pt x="480060" y="1038095"/>
                </a:lnTo>
                <a:lnTo>
                  <a:pt x="506730" y="1085024"/>
                </a:lnTo>
                <a:lnTo>
                  <a:pt x="533400" y="1130822"/>
                </a:lnTo>
                <a:lnTo>
                  <a:pt x="560070" y="1175489"/>
                </a:lnTo>
                <a:lnTo>
                  <a:pt x="586740" y="1219026"/>
                </a:lnTo>
                <a:lnTo>
                  <a:pt x="613410" y="1261432"/>
                </a:lnTo>
                <a:lnTo>
                  <a:pt x="640080" y="1302707"/>
                </a:lnTo>
                <a:lnTo>
                  <a:pt x="666750" y="1342851"/>
                </a:lnTo>
                <a:lnTo>
                  <a:pt x="693420" y="1381864"/>
                </a:lnTo>
                <a:lnTo>
                  <a:pt x="720090" y="1419747"/>
                </a:lnTo>
                <a:lnTo>
                  <a:pt x="746760" y="1456499"/>
                </a:lnTo>
                <a:lnTo>
                  <a:pt x="773430" y="1492120"/>
                </a:lnTo>
                <a:lnTo>
                  <a:pt x="800100" y="1526610"/>
                </a:lnTo>
                <a:lnTo>
                  <a:pt x="826770" y="1559969"/>
                </a:lnTo>
                <a:lnTo>
                  <a:pt x="853440" y="1592197"/>
                </a:lnTo>
                <a:lnTo>
                  <a:pt x="880110" y="1623295"/>
                </a:lnTo>
                <a:lnTo>
                  <a:pt x="906780" y="1653262"/>
                </a:lnTo>
                <a:lnTo>
                  <a:pt x="933450" y="1682098"/>
                </a:lnTo>
                <a:lnTo>
                  <a:pt x="960120" y="1709803"/>
                </a:lnTo>
                <a:lnTo>
                  <a:pt x="986790" y="1736377"/>
                </a:lnTo>
                <a:lnTo>
                  <a:pt x="1013460" y="1761821"/>
                </a:lnTo>
                <a:lnTo>
                  <a:pt x="1040130" y="1786133"/>
                </a:lnTo>
                <a:lnTo>
                  <a:pt x="1066800" y="1809315"/>
                </a:lnTo>
                <a:lnTo>
                  <a:pt x="1093470" y="1831366"/>
                </a:lnTo>
                <a:lnTo>
                  <a:pt x="1120140" y="1852286"/>
                </a:lnTo>
                <a:lnTo>
                  <a:pt x="1146810" y="1872076"/>
                </a:lnTo>
                <a:lnTo>
                  <a:pt x="1173480" y="1890734"/>
                </a:lnTo>
                <a:lnTo>
                  <a:pt x="1200150" y="1908262"/>
                </a:lnTo>
                <a:lnTo>
                  <a:pt x="1226820" y="1924659"/>
                </a:lnTo>
                <a:lnTo>
                  <a:pt x="1253490" y="1939925"/>
                </a:lnTo>
                <a:lnTo>
                  <a:pt x="1280160" y="1954060"/>
                </a:lnTo>
                <a:lnTo>
                  <a:pt x="1306830" y="1967065"/>
                </a:lnTo>
                <a:lnTo>
                  <a:pt x="1333500" y="1978938"/>
                </a:lnTo>
                <a:lnTo>
                  <a:pt x="1360170" y="1989681"/>
                </a:lnTo>
                <a:lnTo>
                  <a:pt x="1386840" y="1999293"/>
                </a:lnTo>
                <a:lnTo>
                  <a:pt x="1413510" y="2007774"/>
                </a:lnTo>
                <a:lnTo>
                  <a:pt x="1440180" y="2015125"/>
                </a:lnTo>
                <a:lnTo>
                  <a:pt x="1466850" y="2021344"/>
                </a:lnTo>
                <a:lnTo>
                  <a:pt x="1493520" y="2026433"/>
                </a:lnTo>
                <a:lnTo>
                  <a:pt x="1520190" y="2030391"/>
                </a:lnTo>
                <a:lnTo>
                  <a:pt x="1546860" y="2033218"/>
                </a:lnTo>
                <a:lnTo>
                  <a:pt x="1573530" y="2034914"/>
                </a:lnTo>
                <a:lnTo>
                  <a:pt x="1600200" y="2035479"/>
                </a:lnTo>
                <a:lnTo>
                  <a:pt x="1626870" y="2034914"/>
                </a:lnTo>
                <a:lnTo>
                  <a:pt x="1653540" y="2033218"/>
                </a:lnTo>
                <a:lnTo>
                  <a:pt x="1680210" y="2030391"/>
                </a:lnTo>
                <a:lnTo>
                  <a:pt x="1706880" y="2026433"/>
                </a:lnTo>
                <a:lnTo>
                  <a:pt x="1733550" y="2021344"/>
                </a:lnTo>
                <a:lnTo>
                  <a:pt x="1760220" y="2015125"/>
                </a:lnTo>
                <a:lnTo>
                  <a:pt x="1786890" y="2007774"/>
                </a:lnTo>
                <a:lnTo>
                  <a:pt x="1813560" y="1999293"/>
                </a:lnTo>
                <a:lnTo>
                  <a:pt x="1840230" y="1989681"/>
                </a:lnTo>
                <a:lnTo>
                  <a:pt x="1866900" y="1978938"/>
                </a:lnTo>
                <a:lnTo>
                  <a:pt x="1893570" y="1967065"/>
                </a:lnTo>
                <a:lnTo>
                  <a:pt x="1920240" y="1954060"/>
                </a:lnTo>
                <a:lnTo>
                  <a:pt x="1946910" y="1939925"/>
                </a:lnTo>
                <a:lnTo>
                  <a:pt x="1973580" y="1924659"/>
                </a:lnTo>
                <a:lnTo>
                  <a:pt x="2000250" y="1908262"/>
                </a:lnTo>
                <a:lnTo>
                  <a:pt x="2026920" y="1890734"/>
                </a:lnTo>
                <a:lnTo>
                  <a:pt x="2053590" y="1872076"/>
                </a:lnTo>
                <a:lnTo>
                  <a:pt x="2080260" y="1852286"/>
                </a:lnTo>
                <a:lnTo>
                  <a:pt x="2106930" y="1831366"/>
                </a:lnTo>
                <a:lnTo>
                  <a:pt x="2133600" y="1809315"/>
                </a:lnTo>
                <a:lnTo>
                  <a:pt x="2160270" y="1786133"/>
                </a:lnTo>
                <a:lnTo>
                  <a:pt x="2186940" y="1761821"/>
                </a:lnTo>
                <a:lnTo>
                  <a:pt x="2213610" y="1736377"/>
                </a:lnTo>
                <a:lnTo>
                  <a:pt x="2240280" y="1709803"/>
                </a:lnTo>
                <a:lnTo>
                  <a:pt x="2266950" y="1682098"/>
                </a:lnTo>
                <a:lnTo>
                  <a:pt x="2293620" y="1653262"/>
                </a:lnTo>
                <a:lnTo>
                  <a:pt x="2320290" y="1623295"/>
                </a:lnTo>
                <a:lnTo>
                  <a:pt x="2346960" y="1592197"/>
                </a:lnTo>
                <a:lnTo>
                  <a:pt x="2373630" y="1559969"/>
                </a:lnTo>
                <a:lnTo>
                  <a:pt x="2400300" y="1526610"/>
                </a:lnTo>
                <a:lnTo>
                  <a:pt x="2426970" y="1492120"/>
                </a:lnTo>
                <a:lnTo>
                  <a:pt x="2453640" y="1456499"/>
                </a:lnTo>
                <a:lnTo>
                  <a:pt x="2480310" y="1419747"/>
                </a:lnTo>
                <a:lnTo>
                  <a:pt x="2506980" y="1381864"/>
                </a:lnTo>
                <a:lnTo>
                  <a:pt x="2533650" y="1342851"/>
                </a:lnTo>
                <a:lnTo>
                  <a:pt x="2560320" y="1302707"/>
                </a:lnTo>
                <a:lnTo>
                  <a:pt x="2586990" y="1261432"/>
                </a:lnTo>
                <a:lnTo>
                  <a:pt x="2613660" y="1219026"/>
                </a:lnTo>
                <a:lnTo>
                  <a:pt x="2640330" y="1175489"/>
                </a:lnTo>
                <a:lnTo>
                  <a:pt x="2667000" y="1130822"/>
                </a:lnTo>
                <a:lnTo>
                  <a:pt x="2693670" y="1085024"/>
                </a:lnTo>
                <a:lnTo>
                  <a:pt x="2720340" y="1038095"/>
                </a:lnTo>
                <a:lnTo>
                  <a:pt x="2747010" y="990035"/>
                </a:lnTo>
                <a:lnTo>
                  <a:pt x="2773680" y="940844"/>
                </a:lnTo>
                <a:lnTo>
                  <a:pt x="2800350" y="890522"/>
                </a:lnTo>
                <a:lnTo>
                  <a:pt x="2827020" y="839070"/>
                </a:lnTo>
                <a:lnTo>
                  <a:pt x="2853690" y="786487"/>
                </a:lnTo>
                <a:lnTo>
                  <a:pt x="2880360" y="732773"/>
                </a:lnTo>
                <a:lnTo>
                  <a:pt x="2907030" y="677928"/>
                </a:lnTo>
                <a:lnTo>
                  <a:pt x="2933700" y="621952"/>
                </a:lnTo>
                <a:lnTo>
                  <a:pt x="2960370" y="564846"/>
                </a:lnTo>
                <a:lnTo>
                  <a:pt x="2987040" y="506608"/>
                </a:lnTo>
                <a:lnTo>
                  <a:pt x="3013710" y="447240"/>
                </a:lnTo>
                <a:lnTo>
                  <a:pt x="3040380" y="386741"/>
                </a:lnTo>
                <a:lnTo>
                  <a:pt x="3067050" y="325111"/>
                </a:lnTo>
                <a:lnTo>
                  <a:pt x="3093720" y="262351"/>
                </a:lnTo>
                <a:lnTo>
                  <a:pt x="3120390" y="198459"/>
                </a:lnTo>
                <a:lnTo>
                  <a:pt x="3147060" y="133437"/>
                </a:lnTo>
                <a:lnTo>
                  <a:pt x="3173730" y="67284"/>
                </a:lnTo>
                <a:lnTo>
                  <a:pt x="3200400" y="0"/>
                </a:lnTo>
              </a:path>
            </a:pathLst>
          </a:custGeom>
          <a:noFill/>
          <a:ln w="3175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 flipV="1">
            <a:off x="8595360" y="3229139"/>
            <a:ext cx="2662732" cy="21677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8382341" y="2976298"/>
            <a:ext cx="2875751" cy="25284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382341" y="2681385"/>
            <a:ext cx="3105811" cy="294913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8133876" y="2337397"/>
            <a:ext cx="3354276" cy="34398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133876" y="1936170"/>
            <a:ext cx="3622619" cy="40122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 flipV="1">
            <a:off x="7844066" y="1468179"/>
            <a:ext cx="3912429" cy="46799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7844066" y="922315"/>
            <a:ext cx="4225423" cy="545864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 flipV="1">
            <a:off x="7506033" y="285618"/>
            <a:ext cx="4563456" cy="63669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7506033" y="-457024"/>
            <a:ext cx="4928532" cy="74264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7111750" y="-1323243"/>
            <a:ext cx="5322815" cy="866219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111750" y="-2333600"/>
            <a:ext cx="5748640" cy="101035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 flipV="1">
            <a:off x="6651859" y="-3512081"/>
            <a:ext cx="6208531" cy="117848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651859" y="-4886661"/>
            <a:ext cx="6705214" cy="137458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 flipV="1">
            <a:off x="6115442" y="-6489972"/>
            <a:ext cx="7241631" cy="160331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115442" y="-6975743"/>
            <a:ext cx="7600558" cy="48577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8547812" y="3398362"/>
            <a:ext cx="95096" cy="95096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1210544" y="318159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334793" y="292875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1440604" y="2633837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086328" y="2289849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708947" y="1888622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796518" y="142063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2021941" y="874767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458485" y="23807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2387017" y="-504572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064202" y="-1370791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2812842" y="-2381148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604311" y="-3559629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309525" y="-4934209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067894" y="-6537520"/>
            <a:ext cx="95096" cy="95096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3668452" y="-7023291"/>
            <a:ext cx="95096" cy="9509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229600" y="50292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6B6B"/>
                </a:solidFill>
                <a:latin typeface="Meiryo"/>
              </a:rPr>
              <a:t>15 歩で発散 ⚠️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229600" y="54864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D6B82"/>
                </a:solidFill>
                <a:latin typeface="Meiryo"/>
              </a:rPr>
              <a:t>黄=開始、赤=最後の位置。点は1ステップごとの位置。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局所最適のわな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谷が複数あると、スタート位置で行き着く先が変わる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二つの谷。左から始めると深い谷（全体最適）、右から始めると浅い谷（局所最適）へ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5212080"/>
            <a:ext cx="6035040" cy="0"/>
          </a:xfrm>
          <a:prstGeom prst="line">
            <a:avLst/>
          </a:prstGeom>
          <a:ln w="12700">
            <a:solidFill>
              <a:srgbClr val="D6DC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64080" y="2194560"/>
            <a:ext cx="0" cy="3017520"/>
          </a:xfrm>
          <a:prstGeom prst="line">
            <a:avLst/>
          </a:prstGeom>
          <a:ln w="12700">
            <a:solidFill>
              <a:srgbClr val="C084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16879" y="2194560"/>
            <a:ext cx="0" cy="3017520"/>
          </a:xfrm>
          <a:prstGeom prst="line">
            <a:avLst/>
          </a:prstGeom>
          <a:ln w="12700">
            <a:solidFill>
              <a:srgbClr val="C084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822960" y="2504579"/>
            <a:ext cx="6035040" cy="2583221"/>
          </a:xfrm>
          <a:custGeom>
            <a:avLst/>
            <a:gdLst/>
            <a:ahLst/>
            <a:cxnLst/>
            <a:rect l="l" t="t" r="r" b="b"/>
            <a:pathLst>
              <a:path w="6035040" h="2583221">
                <a:moveTo>
                  <a:pt x="0" y="643969"/>
                </a:moveTo>
                <a:lnTo>
                  <a:pt x="50292" y="835834"/>
                </a:lnTo>
                <a:lnTo>
                  <a:pt x="100584" y="1014783"/>
                </a:lnTo>
                <a:lnTo>
                  <a:pt x="150876" y="1181303"/>
                </a:lnTo>
                <a:lnTo>
                  <a:pt x="201168" y="1335874"/>
                </a:lnTo>
                <a:lnTo>
                  <a:pt x="251459" y="1478968"/>
                </a:lnTo>
                <a:lnTo>
                  <a:pt x="301752" y="1611049"/>
                </a:lnTo>
                <a:lnTo>
                  <a:pt x="352044" y="1732570"/>
                </a:lnTo>
                <a:lnTo>
                  <a:pt x="402336" y="1843980"/>
                </a:lnTo>
                <a:lnTo>
                  <a:pt x="452628" y="1945714"/>
                </a:lnTo>
                <a:lnTo>
                  <a:pt x="502920" y="2038204"/>
                </a:lnTo>
                <a:lnTo>
                  <a:pt x="553212" y="2121871"/>
                </a:lnTo>
                <a:lnTo>
                  <a:pt x="603504" y="2197129"/>
                </a:lnTo>
                <a:lnTo>
                  <a:pt x="653796" y="2264381"/>
                </a:lnTo>
                <a:lnTo>
                  <a:pt x="704088" y="2324024"/>
                </a:lnTo>
                <a:lnTo>
                  <a:pt x="754380" y="2376446"/>
                </a:lnTo>
                <a:lnTo>
                  <a:pt x="804672" y="2422028"/>
                </a:lnTo>
                <a:lnTo>
                  <a:pt x="854964" y="2461140"/>
                </a:lnTo>
                <a:lnTo>
                  <a:pt x="905255" y="2494146"/>
                </a:lnTo>
                <a:lnTo>
                  <a:pt x="955548" y="2521399"/>
                </a:lnTo>
                <a:lnTo>
                  <a:pt x="1005839" y="2543248"/>
                </a:lnTo>
                <a:lnTo>
                  <a:pt x="1056132" y="2560029"/>
                </a:lnTo>
                <a:lnTo>
                  <a:pt x="1106424" y="2572072"/>
                </a:lnTo>
                <a:lnTo>
                  <a:pt x="1156716" y="2579698"/>
                </a:lnTo>
                <a:lnTo>
                  <a:pt x="1207008" y="2583221"/>
                </a:lnTo>
                <a:lnTo>
                  <a:pt x="1257300" y="2582946"/>
                </a:lnTo>
                <a:lnTo>
                  <a:pt x="1307592" y="2579167"/>
                </a:lnTo>
                <a:lnTo>
                  <a:pt x="1357884" y="2572174"/>
                </a:lnTo>
                <a:lnTo>
                  <a:pt x="1408176" y="2562246"/>
                </a:lnTo>
                <a:lnTo>
                  <a:pt x="1458468" y="2549654"/>
                </a:lnTo>
                <a:lnTo>
                  <a:pt x="1508760" y="2534661"/>
                </a:lnTo>
                <a:lnTo>
                  <a:pt x="1559052" y="2517522"/>
                </a:lnTo>
                <a:lnTo>
                  <a:pt x="1609344" y="2498483"/>
                </a:lnTo>
                <a:lnTo>
                  <a:pt x="1659636" y="2477781"/>
                </a:lnTo>
                <a:lnTo>
                  <a:pt x="1709928" y="2455646"/>
                </a:lnTo>
                <a:lnTo>
                  <a:pt x="1760220" y="2432300"/>
                </a:lnTo>
                <a:lnTo>
                  <a:pt x="1810511" y="2407955"/>
                </a:lnTo>
                <a:lnTo>
                  <a:pt x="1860804" y="2382815"/>
                </a:lnTo>
                <a:lnTo>
                  <a:pt x="1911096" y="2357077"/>
                </a:lnTo>
                <a:lnTo>
                  <a:pt x="1961388" y="2330929"/>
                </a:lnTo>
                <a:lnTo>
                  <a:pt x="2011680" y="2304550"/>
                </a:lnTo>
                <a:lnTo>
                  <a:pt x="2061972" y="2278111"/>
                </a:lnTo>
                <a:lnTo>
                  <a:pt x="2112264" y="2251774"/>
                </a:lnTo>
                <a:lnTo>
                  <a:pt x="2162556" y="2225695"/>
                </a:lnTo>
                <a:lnTo>
                  <a:pt x="2212848" y="2200019"/>
                </a:lnTo>
                <a:lnTo>
                  <a:pt x="2263140" y="2174884"/>
                </a:lnTo>
                <a:lnTo>
                  <a:pt x="2313432" y="2150419"/>
                </a:lnTo>
                <a:lnTo>
                  <a:pt x="2363724" y="2126746"/>
                </a:lnTo>
                <a:lnTo>
                  <a:pt x="2414016" y="2103977"/>
                </a:lnTo>
                <a:lnTo>
                  <a:pt x="2464308" y="2082216"/>
                </a:lnTo>
                <a:lnTo>
                  <a:pt x="2514600" y="2061559"/>
                </a:lnTo>
                <a:lnTo>
                  <a:pt x="2564892" y="2042094"/>
                </a:lnTo>
                <a:lnTo>
                  <a:pt x="2615184" y="2023901"/>
                </a:lnTo>
                <a:lnTo>
                  <a:pt x="2665476" y="2007049"/>
                </a:lnTo>
                <a:lnTo>
                  <a:pt x="2715768" y="1991603"/>
                </a:lnTo>
                <a:lnTo>
                  <a:pt x="2766060" y="1977615"/>
                </a:lnTo>
                <a:lnTo>
                  <a:pt x="2816351" y="1965132"/>
                </a:lnTo>
                <a:lnTo>
                  <a:pt x="2866644" y="1954192"/>
                </a:lnTo>
                <a:lnTo>
                  <a:pt x="2916936" y="1944823"/>
                </a:lnTo>
                <a:lnTo>
                  <a:pt x="2967228" y="1937047"/>
                </a:lnTo>
                <a:lnTo>
                  <a:pt x="3017520" y="1930876"/>
                </a:lnTo>
                <a:lnTo>
                  <a:pt x="3067812" y="1926314"/>
                </a:lnTo>
                <a:lnTo>
                  <a:pt x="3118104" y="1923358"/>
                </a:lnTo>
                <a:lnTo>
                  <a:pt x="3168396" y="1921993"/>
                </a:lnTo>
                <a:lnTo>
                  <a:pt x="3218688" y="1922201"/>
                </a:lnTo>
                <a:lnTo>
                  <a:pt x="3268980" y="1923951"/>
                </a:lnTo>
                <a:lnTo>
                  <a:pt x="3319271" y="1927206"/>
                </a:lnTo>
                <a:lnTo>
                  <a:pt x="3369564" y="1931920"/>
                </a:lnTo>
                <a:lnTo>
                  <a:pt x="3419856" y="1938038"/>
                </a:lnTo>
                <a:lnTo>
                  <a:pt x="3470148" y="1945499"/>
                </a:lnTo>
                <a:lnTo>
                  <a:pt x="3520440" y="1954231"/>
                </a:lnTo>
                <a:lnTo>
                  <a:pt x="3570732" y="1964155"/>
                </a:lnTo>
                <a:lnTo>
                  <a:pt x="3621023" y="1975183"/>
                </a:lnTo>
                <a:lnTo>
                  <a:pt x="3671316" y="1987219"/>
                </a:lnTo>
                <a:lnTo>
                  <a:pt x="3721608" y="2000160"/>
                </a:lnTo>
                <a:lnTo>
                  <a:pt x="3771900" y="2013892"/>
                </a:lnTo>
                <a:lnTo>
                  <a:pt x="3822192" y="2028294"/>
                </a:lnTo>
                <a:lnTo>
                  <a:pt x="3872484" y="2043237"/>
                </a:lnTo>
                <a:lnTo>
                  <a:pt x="3922776" y="2058584"/>
                </a:lnTo>
                <a:lnTo>
                  <a:pt x="3973068" y="2074187"/>
                </a:lnTo>
                <a:lnTo>
                  <a:pt x="4023360" y="2089894"/>
                </a:lnTo>
                <a:lnTo>
                  <a:pt x="4073652" y="2105540"/>
                </a:lnTo>
                <a:lnTo>
                  <a:pt x="4123944" y="2120955"/>
                </a:lnTo>
                <a:lnTo>
                  <a:pt x="4174236" y="2135960"/>
                </a:lnTo>
                <a:lnTo>
                  <a:pt x="4224528" y="2150367"/>
                </a:lnTo>
                <a:lnTo>
                  <a:pt x="4274820" y="2163980"/>
                </a:lnTo>
                <a:lnTo>
                  <a:pt x="4325112" y="2176593"/>
                </a:lnTo>
                <a:lnTo>
                  <a:pt x="4375404" y="2187995"/>
                </a:lnTo>
                <a:lnTo>
                  <a:pt x="4425696" y="2197964"/>
                </a:lnTo>
                <a:lnTo>
                  <a:pt x="4475988" y="2206271"/>
                </a:lnTo>
                <a:lnTo>
                  <a:pt x="4526280" y="2212677"/>
                </a:lnTo>
                <a:lnTo>
                  <a:pt x="4576572" y="2216937"/>
                </a:lnTo>
                <a:lnTo>
                  <a:pt x="4626864" y="2218796"/>
                </a:lnTo>
                <a:lnTo>
                  <a:pt x="4677156" y="2217991"/>
                </a:lnTo>
                <a:lnTo>
                  <a:pt x="4727448" y="2214252"/>
                </a:lnTo>
                <a:lnTo>
                  <a:pt x="4777740" y="2207297"/>
                </a:lnTo>
                <a:lnTo>
                  <a:pt x="4828032" y="2196840"/>
                </a:lnTo>
                <a:lnTo>
                  <a:pt x="4878323" y="2182584"/>
                </a:lnTo>
                <a:lnTo>
                  <a:pt x="4928616" y="2164225"/>
                </a:lnTo>
                <a:lnTo>
                  <a:pt x="4978908" y="2141449"/>
                </a:lnTo>
                <a:lnTo>
                  <a:pt x="5029200" y="2113935"/>
                </a:lnTo>
                <a:lnTo>
                  <a:pt x="5079492" y="2081354"/>
                </a:lnTo>
                <a:lnTo>
                  <a:pt x="5129784" y="2043367"/>
                </a:lnTo>
                <a:lnTo>
                  <a:pt x="5180076" y="1999629"/>
                </a:lnTo>
                <a:lnTo>
                  <a:pt x="5230368" y="1949784"/>
                </a:lnTo>
                <a:lnTo>
                  <a:pt x="5280660" y="1893470"/>
                </a:lnTo>
                <a:lnTo>
                  <a:pt x="5330952" y="1830314"/>
                </a:lnTo>
                <a:lnTo>
                  <a:pt x="5381244" y="1759938"/>
                </a:lnTo>
                <a:lnTo>
                  <a:pt x="5431536" y="1681954"/>
                </a:lnTo>
                <a:lnTo>
                  <a:pt x="5481828" y="1595964"/>
                </a:lnTo>
                <a:lnTo>
                  <a:pt x="5532120" y="1501564"/>
                </a:lnTo>
                <a:lnTo>
                  <a:pt x="5582412" y="1398341"/>
                </a:lnTo>
                <a:lnTo>
                  <a:pt x="5632703" y="1285873"/>
                </a:lnTo>
                <a:lnTo>
                  <a:pt x="5682996" y="1163731"/>
                </a:lnTo>
                <a:lnTo>
                  <a:pt x="5733288" y="1031477"/>
                </a:lnTo>
                <a:lnTo>
                  <a:pt x="5783580" y="888664"/>
                </a:lnTo>
                <a:lnTo>
                  <a:pt x="5833872" y="734836"/>
                </a:lnTo>
                <a:lnTo>
                  <a:pt x="5884163" y="569532"/>
                </a:lnTo>
                <a:lnTo>
                  <a:pt x="5934456" y="392279"/>
                </a:lnTo>
                <a:lnTo>
                  <a:pt x="5984748" y="202598"/>
                </a:lnTo>
                <a:lnTo>
                  <a:pt x="6035040" y="0"/>
                </a:lnTo>
              </a:path>
            </a:pathLst>
          </a:custGeom>
          <a:noFill/>
          <a:ln w="3175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325880" y="4542783"/>
            <a:ext cx="494873" cy="50189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0753" y="5044680"/>
            <a:ext cx="112875" cy="3278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33628" y="5077461"/>
            <a:ext cx="52915" cy="753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86543" y="5084993"/>
            <a:ext cx="27924" cy="214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4467" y="5087134"/>
            <a:ext cx="15511" cy="667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29978" y="5087801"/>
            <a:ext cx="8844" cy="218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038822" y="5088019"/>
            <a:ext cx="5114" cy="73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43936" y="5088092"/>
            <a:ext cx="2982" cy="25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46918" y="5088117"/>
            <a:ext cx="1746" cy="9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48664" y="5088126"/>
            <a:ext cx="1025" cy="2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49689" y="5088128"/>
            <a:ext cx="603" cy="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50292" y="5088129"/>
            <a:ext cx="355" cy="1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50647" y="5088130"/>
            <a:ext cx="209" cy="0"/>
          </a:xfrm>
          <a:prstGeom prst="line">
            <a:avLst/>
          </a:prstGeom>
          <a:ln w="1587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265530" y="4482433"/>
            <a:ext cx="120700" cy="120700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60403" y="4984330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73278" y="5017111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6193" y="5024643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54117" y="5026784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69628" y="5027451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78472" y="5027669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83586" y="5027742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86568" y="5027767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88314" y="5027776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989339" y="5027778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89942" y="5027779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90297" y="5027780"/>
            <a:ext cx="120700" cy="120700"/>
          </a:xfrm>
          <a:prstGeom prst="ellipse">
            <a:avLst/>
          </a:prstGeom>
          <a:solidFill>
            <a:srgbClr val="E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90506" y="5027780"/>
            <a:ext cx="120700" cy="120700"/>
          </a:xfrm>
          <a:prstGeom prst="ellipse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678680" y="4542783"/>
            <a:ext cx="84490" cy="25767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763170" y="4568550"/>
            <a:ext cx="87608" cy="27315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50778" y="4595865"/>
            <a:ext cx="88272" cy="27285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9050" y="4623150"/>
            <a:ext cx="86046" cy="25468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25096" y="4648618"/>
            <a:ext cx="80839" cy="22059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05935" y="4670677"/>
            <a:ext cx="73003" cy="17650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178938" y="4688327"/>
            <a:ext cx="63312" cy="13034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42250" y="4701361"/>
            <a:ext cx="52780" cy="8907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295030" y="4710268"/>
            <a:ext cx="42421" cy="5670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37451" y="4715938"/>
            <a:ext cx="33013" cy="3392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70464" y="4719330"/>
            <a:ext cx="25005" cy="1928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95469" y="4721258"/>
            <a:ext cx="18532" cy="1050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414001" y="4722308"/>
            <a:ext cx="13503" cy="555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427504" y="4722863"/>
            <a:ext cx="9713" cy="286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437217" y="4723149"/>
            <a:ext cx="6922" cy="145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444139" y="4723294"/>
            <a:ext cx="4897" cy="72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449036" y="4723366"/>
            <a:ext cx="3449" cy="36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52485" y="4723402"/>
            <a:ext cx="2420" cy="17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454905" y="4723419"/>
            <a:ext cx="1694" cy="9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56599" y="4723428"/>
            <a:ext cx="1184" cy="4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457783" y="4723432"/>
            <a:ext cx="826" cy="2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458609" y="4723434"/>
            <a:ext cx="576" cy="1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459185" y="4723435"/>
            <a:ext cx="401" cy="1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459586" y="4723436"/>
            <a:ext cx="279" cy="0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459865" y="4723436"/>
            <a:ext cx="195" cy="0"/>
          </a:xfrm>
          <a:prstGeom prst="line">
            <a:avLst/>
          </a:prstGeom>
          <a:ln w="15875">
            <a:solidFill>
              <a:srgbClr val="FFA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4557980" y="4422083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642470" y="4447850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730078" y="4475165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818350" y="4502450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04396" y="4527918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985235" y="4549977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058238" y="4567627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121550" y="4580661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174330" y="4589568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216751" y="4595238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249764" y="4598630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274769" y="4600558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293301" y="4601608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804" y="4602163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16517" y="4602449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23439" y="4602594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28336" y="4602666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331785" y="4602702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334205" y="4602719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335899" y="4602728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337083" y="4602732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337909" y="4602734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338485" y="4602735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38886" y="4602736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339165" y="4602736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39360" y="4602736"/>
            <a:ext cx="241400" cy="241400"/>
          </a:xfrm>
          <a:prstGeom prst="ellipse">
            <a:avLst/>
          </a:prstGeom>
          <a:solidFill>
            <a:srgbClr val="F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06640" y="137160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89520" y="15087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F7FD9"/>
                </a:solidFill>
                <a:latin typeface="Meiryo"/>
              </a:rPr>
              <a:t>何が起きている？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89520" y="1965960"/>
            <a:ext cx="3931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● </a:t>
            </a:r>
            <a:r>
              <a:rPr sz="1400" b="1">
                <a:solidFill>
                  <a:srgbClr val="2F7FD9"/>
                </a:solidFill>
                <a:latin typeface="Meiryo"/>
              </a:rPr>
              <a:t>青</a:t>
            </a:r>
            <a:r>
              <a:rPr sz="1400" b="0">
                <a:solidFill>
                  <a:srgbClr val="1A2030"/>
                </a:solidFill>
                <a:latin typeface="Meiryo"/>
              </a:rPr>
              <a:t> … x=−3 から開始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  → 深い谷 (x≈-2.1) ＝全体最適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● </a:t>
            </a:r>
            <a:r>
              <a:rPr sz="1400" b="1">
                <a:solidFill>
                  <a:srgbClr val="2F7FD9"/>
                </a:solidFill>
                <a:latin typeface="Meiryo"/>
              </a:rPr>
              <a:t>橙</a:t>
            </a:r>
            <a:r>
              <a:rPr sz="1400" b="0">
                <a:solidFill>
                  <a:srgbClr val="1A2030"/>
                </a:solidFill>
                <a:latin typeface="Meiryo"/>
              </a:rPr>
              <a:t> … x=+1 から開始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  → 浅い谷 (x≈1.9) ＝局所最適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勾配降下は「今いる谷」しか下れない。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89520" y="4572000"/>
            <a:ext cx="3931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対策の例: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・スタートを変えて何度も試す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・モーメンタム/学習率の工夫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・乱数を加える（確率的勾配降下）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まとめと演習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手を動かして確かめよう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今日のポイント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学習＝</a:t>
            </a:r>
            <a:r>
              <a:rPr sz="1500" b="1">
                <a:solidFill>
                  <a:srgbClr val="2F7FD9"/>
                </a:solidFill>
                <a:latin typeface="Meiryo"/>
              </a:rPr>
              <a:t>損失を最小化</a:t>
            </a:r>
            <a:r>
              <a:rPr sz="1500" b="0">
                <a:solidFill>
                  <a:srgbClr val="1A2030"/>
                </a:solidFill>
                <a:latin typeface="Meiryo"/>
              </a:rPr>
              <a:t>するパラメータ探し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勾配（傾き）の逆向き</a:t>
            </a:r>
            <a:r>
              <a:rPr sz="1500" b="0">
                <a:solidFill>
                  <a:srgbClr val="1A2030"/>
                </a:solidFill>
                <a:latin typeface="Meiryo"/>
              </a:rPr>
              <a:t>へ一歩ずつ下る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一歩の大きさ＝</a:t>
            </a:r>
            <a:r>
              <a:rPr sz="1500" b="1">
                <a:solidFill>
                  <a:srgbClr val="2F7FD9"/>
                </a:solidFill>
                <a:latin typeface="Meiryo"/>
              </a:rPr>
              <a:t>学習率 η</a:t>
            </a:r>
            <a:r>
              <a:rPr sz="1500" b="0">
                <a:solidFill>
                  <a:srgbClr val="1A2030"/>
                </a:solidFill>
                <a:latin typeface="Meiryo"/>
              </a:rPr>
              <a:t> が超重要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小さすぎ→遅い、大きすぎ→発散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谷が複数だと</a:t>
            </a:r>
            <a:r>
              <a:rPr sz="1500" b="1">
                <a:solidFill>
                  <a:srgbClr val="2F7FD9"/>
                </a:solidFill>
                <a:latin typeface="Meiryo"/>
              </a:rPr>
              <a:t>局所最適</a:t>
            </a:r>
            <a:r>
              <a:rPr sz="1500" b="0">
                <a:solidFill>
                  <a:srgbClr val="1A2030"/>
                </a:solidFill>
                <a:latin typeface="Meiryo"/>
              </a:rPr>
              <a:t>にはまることも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演習（ビジュアライザで）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1. η を上げていくと何歩で収束する？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どこから発散する？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2. 「二つの谷」でスタートを左右に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変えると行き先はどう変わる？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3. 「でこぼこ」だと局所最適に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はまる様子を観察しよう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▶ 付属ビジュアライザで体験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Consolas"/>
              </a:rPr>
              <a:t>html/gradient.html を開く → 関数・学習率・スタートを設定 → 「次へ」で1ステップずつ降下 / 損失グラフが下がる様子と発散をその場で確認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この一歩の積み重ねが、巨大な AI モデルの学習を支えている。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