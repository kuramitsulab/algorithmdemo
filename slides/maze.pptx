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17407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79535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41663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03791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65919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8047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90175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2303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14431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76559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38687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00815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62943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25071" y="141732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67944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7407" y="1679448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79535" y="1679448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41663" y="1679448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3791" y="1679448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65919" y="1679448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28047" y="167944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0175" y="167944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2303" y="167944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14431" y="167944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76559" y="167944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38687" y="1679448"/>
            <a:ext cx="262128" cy="262128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100815" y="1679448"/>
            <a:ext cx="262128" cy="262128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362943" y="167944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625071" y="167944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194157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17407" y="1941576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79535" y="194157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41663" y="1941576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03791" y="194157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65919" y="1941576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28047" y="194157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90175" y="194157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52303" y="194157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14431" y="1941576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76559" y="194157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838687" y="194157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00815" y="194157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362943" y="1941576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625071" y="194157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55279" y="220370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17407" y="220370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79535" y="220370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41663" y="220370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03791" y="220370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65919" y="2203704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28047" y="2203704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90175" y="2203704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52303" y="220370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314431" y="220370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576559" y="220370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38687" y="220370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100815" y="220370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362943" y="220370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625071" y="220370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955279" y="246583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7407" y="246583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79535" y="246583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41663" y="246583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03791" y="246583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65919" y="246583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28047" y="246583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790175" y="2465832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052303" y="246583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14431" y="246583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576559" y="246583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838687" y="246583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100815" y="246583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362943" y="246583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625071" y="246583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955279" y="272796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217407" y="272796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479535" y="272796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41663" y="272796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03791" y="272796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65919" y="272796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28047" y="272796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790175" y="2727960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52303" y="272796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314431" y="272796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576559" y="272796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838687" y="272796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00815" y="272796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62943" y="272796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625071" y="272796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55279" y="299008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17407" y="299008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79535" y="299008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41663" y="299008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03791" y="299008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265919" y="299008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528047" y="299008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90175" y="2990088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52303" y="299008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314431" y="299008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576559" y="299008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838687" y="299008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100815" y="299008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362943" y="299008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625071" y="299008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955279" y="325221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217407" y="3252216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79535" y="325221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41663" y="3252216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03791" y="325221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265919" y="3252216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8047" y="325221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90175" y="3252216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052303" y="3252216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14431" y="3252216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576559" y="3252216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838687" y="3252216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100815" y="3252216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362943" y="3252216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1625071" y="325221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955279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17407" y="351434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479535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741663" y="351434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003791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265919" y="351434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528047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790175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052303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314431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576559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838687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100815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62943" y="3514344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625071" y="351434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955279" y="377647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217407" y="377647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479535" y="377647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41663" y="377647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003791" y="377647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265919" y="377647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528047" y="377647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790175" y="377647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052303" y="377647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314431" y="377647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576559" y="377647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838687" y="377647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1100815" y="3776472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362943" y="3776472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1625071" y="377647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955279" y="403860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217407" y="403860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479535" y="403860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741663" y="403860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003791" y="403860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265919" y="403860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528047" y="403860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790175" y="403860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052303" y="403860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314431" y="4038600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576559" y="403860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838687" y="403860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1100815" y="403860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1362943" y="4038600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1625071" y="4038600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955279" y="430072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217407" y="430072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479535" y="430072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741663" y="430072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03791" y="430072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265919" y="430072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528047" y="430072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790175" y="430072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052303" y="430072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314431" y="430072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0576559" y="430072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0838687" y="4300728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1100815" y="430072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1362943" y="4300728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1625071" y="4300728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955279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17407" y="4562856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79535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741663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003791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265919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528047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790175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052303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314431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0576559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838687" y="4562856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1100815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362943" y="4562856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1625071" y="4562856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955279" y="482498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217407" y="482498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479535" y="482498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41663" y="482498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003791" y="482498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265919" y="482498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528047" y="482498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790175" y="482498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0052303" y="482498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0314431" y="4824984"/>
            <a:ext cx="262128" cy="262128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576559" y="482498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0838687" y="4824984"/>
            <a:ext cx="262128" cy="2621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1100815" y="482498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1362943" y="4824984"/>
            <a:ext cx="262128" cy="262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1625071" y="4824984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955279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217407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479535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741663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003791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265919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528047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790175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0052303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0314431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576559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0838687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1100815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362943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1625071" y="5087112"/>
            <a:ext cx="262128" cy="262128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259347" y="1721388"/>
            <a:ext cx="178247" cy="178247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S</a:t>
            </a:r>
          </a:p>
        </p:txBody>
      </p:sp>
      <p:sp>
        <p:nvSpPr>
          <p:cNvPr id="228" name="Oval 227"/>
          <p:cNvSpPr/>
          <p:nvPr/>
        </p:nvSpPr>
        <p:spPr>
          <a:xfrm>
            <a:off x="11404883" y="4866924"/>
            <a:ext cx="178247" cy="178247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G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1A2030"/>
                </a:solidFill>
                <a:latin typeface="Meiryo"/>
              </a:rPr>
              <a:t>迷路で学ぶ探索アルゴリズム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F7FD9"/>
                </a:solidFill>
                <a:latin typeface="Meiryo"/>
              </a:rPr>
              <a:t>DFS ・ BFS ・ A* ・ 壁伝い法 ・ ランダムウォーク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D6B82"/>
                </a:solidFill>
                <a:latin typeface="Meiryo"/>
              </a:rPr>
              <a:t>「どう探すか」で、速さも経路も変わる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Consolas"/>
              </a:rPr>
              <a:t>対応ビジュアライザ:  html/maze.html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迷路は「グラフ探索」の問題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通路をたどってスタート S からゴール G 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035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5778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迷路の各マス = </a:t>
            </a:r>
            <a:r>
              <a:rPr sz="1500" b="1">
                <a:solidFill>
                  <a:srgbClr val="2F7FD9"/>
                </a:solidFill>
                <a:latin typeface="Meiryo"/>
              </a:rPr>
              <a:t>ノード（点）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隣り合う通路のつながり = </a:t>
            </a:r>
            <a:r>
              <a:rPr sz="1500" b="1">
                <a:solidFill>
                  <a:srgbClr val="2F7FD9"/>
                </a:solidFill>
                <a:latin typeface="Meiryo"/>
              </a:rPr>
              <a:t>エッジ（辺）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S から G へ、つながりをたどって進む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一度行ったマスを覚えれば、無駄な往復を防げる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探索で出てくる言葉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</a:t>
            </a:r>
            <a:r>
              <a:rPr sz="1500" b="1">
                <a:solidFill>
                  <a:srgbClr val="2F7FD9"/>
                </a:solidFill>
                <a:latin typeface="Meiryo"/>
              </a:rPr>
              <a:t>フロンティア</a:t>
            </a:r>
            <a:r>
              <a:rPr sz="1500" b="0">
                <a:solidFill>
                  <a:srgbClr val="1A2030"/>
                </a:solidFill>
                <a:latin typeface="Meiryo"/>
              </a:rPr>
              <a:t>: 次に調べる候補のマス（黄）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</a:t>
            </a:r>
            <a:r>
              <a:rPr sz="1500" b="1">
                <a:solidFill>
                  <a:srgbClr val="2F7FD9"/>
                </a:solidFill>
                <a:latin typeface="Meiryo"/>
              </a:rPr>
              <a:t>訪問済み</a:t>
            </a:r>
            <a:r>
              <a:rPr sz="1500" b="0">
                <a:solidFill>
                  <a:srgbClr val="1A2030"/>
                </a:solidFill>
                <a:latin typeface="Meiryo"/>
              </a:rPr>
              <a:t>: もう調べたマス（青）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</a:t>
            </a:r>
            <a:r>
              <a:rPr sz="1500" b="1">
                <a:solidFill>
                  <a:srgbClr val="2F7FD9"/>
                </a:solidFill>
                <a:latin typeface="Meiryo"/>
              </a:rPr>
              <a:t>経路</a:t>
            </a:r>
            <a:r>
              <a:rPr sz="1500" b="0">
                <a:solidFill>
                  <a:srgbClr val="1A2030"/>
                </a:solidFill>
                <a:latin typeface="Meiryo"/>
              </a:rPr>
              <a:t>: 見つかった道すじ（緑）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違いは「フロンティアからどれを次に選ぶか」だけ！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371600"/>
            <a:ext cx="49377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48132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BFS で探索した例（青=訪問, 緑=最短経路）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27392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13904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0416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6928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73440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59952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6464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32976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19488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06000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92512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79024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65536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052048" y="192024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220675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7392" y="2206752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13904" y="2206752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0416" y="2206752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928" y="2206752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73440" y="2206752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59952" y="220675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6464" y="220675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32976" y="220675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19488" y="220675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06000" y="220675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92512" y="2206752"/>
            <a:ext cx="286512" cy="286512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479024" y="2206752"/>
            <a:ext cx="286512" cy="286512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65536" y="220675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52048" y="220675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40880" y="249326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27392" y="2493264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13904" y="249326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00416" y="2493264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86928" y="249326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73440" y="2493264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59952" y="249326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46464" y="249326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32976" y="249326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19488" y="2493264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906000" y="249326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92512" y="249326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79024" y="249326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765536" y="2493264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052048" y="249326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040880" y="277977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27392" y="277977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13904" y="277977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900416" y="277977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86928" y="277977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73440" y="2779776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59952" y="2779776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46464" y="2779776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32976" y="277977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619488" y="277977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06000" y="277977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192512" y="277977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479024" y="277977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765536" y="277977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052048" y="277977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040880" y="306628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27392" y="306628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13904" y="306628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900416" y="306628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86928" y="306628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473440" y="306628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59952" y="306628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46464" y="3066288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332976" y="306628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619488" y="306628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906000" y="306628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192512" y="306628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479024" y="306628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765536" y="306628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52048" y="306628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040880" y="335280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327392" y="335280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13904" y="335280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00416" y="335280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86928" y="335280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73440" y="335280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59952" y="335280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46464" y="3352800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332976" y="335280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19488" y="335280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906000" y="335280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192512" y="335280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479024" y="335280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65536" y="335280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052048" y="335280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040880" y="363931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327392" y="363931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613904" y="363931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900416" y="363931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186928" y="363931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73440" y="363931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59952" y="363931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46464" y="3639312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332976" y="363931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19488" y="363931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906000" y="363931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192512" y="363931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479024" y="363931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765536" y="363931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052048" y="363931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040880" y="392582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327392" y="3925824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613904" y="392582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900416" y="3925824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186928" y="392582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473440" y="3925824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759952" y="392582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046464" y="3925824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332976" y="3925824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619488" y="3925824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906000" y="3925824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192512" y="3925824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479024" y="3925824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765536" y="3925824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052048" y="392582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040880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327392" y="421233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613904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900416" y="421233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186928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473440" y="421233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59952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046464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332976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619488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906000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192512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479024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765536" y="4212336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1052048" y="421233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040880" y="449884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327392" y="449884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613904" y="449884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900416" y="449884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186928" y="449884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473440" y="449884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759952" y="449884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046464" y="449884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332976" y="449884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619488" y="449884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906000" y="449884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192512" y="449884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479024" y="4498848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765536" y="4498848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1052048" y="449884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40880" y="478536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327392" y="478536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613904" y="478536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900416" y="478536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186928" y="478536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473440" y="478536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759952" y="478536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46464" y="478536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332976" y="478536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619488" y="4785360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906000" y="478536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192512" y="478536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479024" y="478536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0765536" y="4785360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052048" y="4785360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040880" y="507187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327392" y="507187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613904" y="507187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900416" y="507187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86928" y="507187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73440" y="507187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759952" y="507187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046464" y="507187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332976" y="507187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619488" y="507187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906000" y="507187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192512" y="5071872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479024" y="507187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0765536" y="5071872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1052048" y="5071872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040880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327392" y="5358384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613904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900416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186928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473440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59952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046464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32976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619488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906000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0192512" y="5358384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0479024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765536" y="5358384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1052048" y="5358384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040880" y="564489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327392" y="564489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613904" y="564489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900416" y="564489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186928" y="564489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473440" y="564489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759952" y="564489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046464" y="564489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32976" y="564489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619488" y="5644896"/>
            <a:ext cx="286512" cy="286512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906000" y="564489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0192512" y="5644896"/>
            <a:ext cx="286512" cy="28651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0479024" y="564489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765536" y="5644896"/>
            <a:ext cx="286512" cy="2865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1052048" y="5644896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40880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27392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613904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900416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186928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473440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759952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046464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332976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619488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906000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0192512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0479024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765536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1052048" y="5931408"/>
            <a:ext cx="286512" cy="286512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7373233" y="2252593"/>
            <a:ext cx="194828" cy="1948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S</a:t>
            </a:r>
          </a:p>
        </p:txBody>
      </p:sp>
      <p:sp>
        <p:nvSpPr>
          <p:cNvPr id="240" name="Oval 239"/>
          <p:cNvSpPr/>
          <p:nvPr/>
        </p:nvSpPr>
        <p:spPr>
          <a:xfrm>
            <a:off x="10811377" y="5690737"/>
            <a:ext cx="194828" cy="194828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G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6995160" y="5742432"/>
            <a:ext cx="164592" cy="164592"/>
          </a:xfrm>
          <a:prstGeom prst="round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214616" y="56967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壁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7680960" y="5742432"/>
            <a:ext cx="164592" cy="164592"/>
          </a:xfrm>
          <a:prstGeom prst="round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900416" y="56967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通路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8513063" y="5742432"/>
            <a:ext cx="164592" cy="164592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8732519" y="56967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訪問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9345166" y="574243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9564622" y="56967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経路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「次にどれを選ぶか」が決め手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同じ枠組みでも、選び方で結果が大きく変わる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743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743200" cy="54864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1790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6B6B"/>
                </a:solidFill>
                <a:latin typeface="Meiryo"/>
              </a:rPr>
              <a:t>DFS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スタック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選び方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最後に入れた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候補を選ぶ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性格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6B6B"/>
                </a:solidFill>
                <a:latin typeface="Meiryo"/>
              </a:rPr>
              <a:t>奥へ奥へ進む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1463040"/>
            <a:ext cx="2743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64992" y="1463040"/>
            <a:ext cx="2743200" cy="54864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151790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2F7FD9"/>
                </a:solidFill>
                <a:latin typeface="Meiryo"/>
              </a:rPr>
              <a:t>BFS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1945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514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キュー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30632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選び方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33832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最初に入れた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候補を選ぶ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2062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性格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526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近い順に広げる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2784" y="1463040"/>
            <a:ext cx="2743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2784" y="1463040"/>
            <a:ext cx="2743200" cy="54864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2784" y="151790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4ADE80"/>
                </a:solidFill>
                <a:latin typeface="Meiryo"/>
              </a:rPr>
              <a:t>A*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1945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2514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優先度キュー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30632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選び方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33832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f = g + h が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最小を選ぶ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2062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性格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4526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4ADE80"/>
                </a:solidFill>
                <a:latin typeface="Meiryo"/>
              </a:rPr>
              <a:t>ゴール方向へ絞る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0576" y="1463040"/>
            <a:ext cx="2743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80576" y="1463040"/>
            <a:ext cx="2743200" cy="54864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0576" y="151790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D24A"/>
                </a:solidFill>
                <a:latin typeface="Meiryo"/>
              </a:rPr>
              <a:t>ランダム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21945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2514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A2030"/>
                </a:solidFill>
                <a:latin typeface="Meiryo"/>
              </a:rPr>
              <a:t>なし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30632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選び方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6" y="33832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その場で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ランダムに選ぶ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42062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性格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63456" y="4526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D24A"/>
                </a:solidFill>
                <a:latin typeface="Meiryo"/>
              </a:rPr>
              <a:t>あてもなく歩く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ポイント: フロンティア（次の候補）から </a:t>
            </a:r>
            <a:r>
              <a:rPr sz="1500" b="1">
                <a:solidFill>
                  <a:srgbClr val="2F7FD9"/>
                </a:solidFill>
                <a:latin typeface="Meiryo"/>
              </a:rPr>
              <a:t>どれを取り出すか</a:t>
            </a:r>
            <a:r>
              <a:rPr sz="1500" b="0">
                <a:solidFill>
                  <a:srgbClr val="1A2030"/>
                </a:solidFill>
                <a:latin typeface="Meiryo"/>
              </a:rPr>
              <a:t> を変えるだけで、探索の順番・速さ・得られる経路が変わる。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DFS（深さ優先探索）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Depth-First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行けるところまで奥へ進み、行き止まりになったら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分岐点まで戻って別の道を試す。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スタックに S を入れる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一番上を取り出して訪問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未訪問の隣を上に積む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ゴールまで繰り返す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実装が簡単で記憶も少ない。ただし遠回りの経路になりやすく、最短は保証されない。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この迷路での結果 — 訪問 67 マス / 経路 61 マス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490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168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847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2525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0204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882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560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239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0917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8596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6274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3952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1631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9309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4904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1688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48472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25256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02040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78824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5608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2392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09176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85960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62744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39528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16312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93096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18120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94904" y="222808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7168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48472" y="2228087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25256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02040" y="2228087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78824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560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32392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09176" y="2228087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85960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62744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3952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16312" y="2228087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93096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18120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94904" y="240487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71688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48472" y="240487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25256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02040" y="240487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878824" y="240487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55608" y="240487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2392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09176" y="240487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85960" y="240487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762744" y="240487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939528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16312" y="240487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93096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818120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994904" y="258165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71688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8472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52525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02040" y="258165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878824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55608" y="258165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232392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40917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585960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762744" y="2581655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939528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116312" y="2581655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9309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818120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994904" y="275843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71688" y="275843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48472" y="275843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525256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02040" y="275843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878824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55608" y="275843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232392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409176" y="275843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85960" y="275843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762744" y="275843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939528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16312" y="275843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93096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18120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9490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71688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348472" y="293522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25256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02040" y="293522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7882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055608" y="293522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32392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409176" y="293522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585960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6274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939528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116312" y="293522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293096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818120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994904" y="3112007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171688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348472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525256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702040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878824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055608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232392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409176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585960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762744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939528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116312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293096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818120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994904" y="328879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17168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348472" y="328879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52525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02040" y="328879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878824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05560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232392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40917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585960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762744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93952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116312" y="328879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29309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818120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994904" y="3465575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171688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348472" y="346557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25256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702040" y="346557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878824" y="346557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055608" y="346557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232392" y="346557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409176" y="346557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585960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762744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939528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116312" y="346557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293096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818120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994904" y="364235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17168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348472" y="364235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525256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702040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878824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5560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232392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409176" y="364235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585960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762744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93952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0116312" y="364235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293096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18120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94904" y="381914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171688" y="381914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48472" y="381914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25256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702040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878824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055608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232392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409176" y="381914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585960" y="381914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762744" y="381914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939528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116312" y="381914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293096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81812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994904" y="399592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17168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348472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52525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0204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878824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05560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232392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40917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58596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762744" y="399592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93952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0116312" y="399592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029309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818120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994904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171688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348472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525256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702040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878824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055608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232392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09176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585960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762744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939528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0116312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293096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81812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99490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17168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34847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52525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70204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887882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05560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23239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0917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58596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76274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93952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11631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29309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023189" y="2079588"/>
            <a:ext cx="120213" cy="120213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S</a:t>
            </a:r>
          </a:p>
        </p:txBody>
      </p:sp>
      <p:sp>
        <p:nvSpPr>
          <p:cNvPr id="241" name="Oval 240"/>
          <p:cNvSpPr/>
          <p:nvPr/>
        </p:nvSpPr>
        <p:spPr>
          <a:xfrm>
            <a:off x="10144597" y="4200996"/>
            <a:ext cx="120213" cy="120213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G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6812280" y="4279392"/>
            <a:ext cx="164592" cy="164592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031736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訪問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7644383" y="427939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863839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経路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8476486" y="427939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695942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S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9162286" y="427939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381742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G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583680" y="4800600"/>
            <a:ext cx="5120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812280" y="4937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503920" y="49377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スタック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81228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時間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8503920" y="52120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O(V + E)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812280" y="5486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空間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503920" y="5486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O(V)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812280" y="5760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最短経路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503920" y="57607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× 保証なし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BFS（幅優先探索）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Breadth-First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スタートから近いマスを順に、波紋のように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全方向へ等しく広げていく。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キューに S を入れる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先頭を取り出して訪問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未訪問の隣を後ろに並べる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ゴールまで繰り返す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重みのない迷路では最短経路を必ず見つけられる。ただし広く探すので訪問マスは多い。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この迷路での結果 — 訪問 96 マス / 経路 25 マス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490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168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847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2525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0204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882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560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239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0917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8596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6274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3952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1631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9309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4904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1688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48472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25256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02040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78824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5608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2392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09176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85960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62744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39528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16312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93096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18120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94904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7168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48472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25256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02040" y="222808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78824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560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32392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09176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85960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62744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3952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16312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93096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18120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94904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71688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48472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25256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02040" y="240487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878824" y="240487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55608" y="240487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2392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09176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85960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762744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939528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16312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93096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818120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994904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71688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8472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52525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02040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878824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55608" y="258165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232392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40917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585960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762744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939528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116312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9309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818120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994904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71688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48472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525256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02040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878824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55608" y="275843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232392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409176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85960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762744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939528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16312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93096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18120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9490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71688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348472" y="293522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25256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02040" y="293522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7882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055608" y="293522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32392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409176" y="293522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585960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6274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939528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116312" y="293522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293096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818120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994904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171688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348472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525256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702040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878824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055608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232392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409176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585960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762744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939528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116312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293096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818120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994904" y="328879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17168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348472" y="328879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52525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02040" y="328879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878824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05560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232392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40917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585960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762744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93952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116312" y="328879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29309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818120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994904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171688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348472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25256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702040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878824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055608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232392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409176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585960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762744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939528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116312" y="346557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293096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818120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994904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17168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348472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525256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702040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878824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5560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232392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409176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585960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762744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93952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0116312" y="364235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293096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18120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94904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171688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48472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25256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702040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878824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055608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232392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409176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585960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762744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939528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116312" y="381914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293096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81812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994904" y="399592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17168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348472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52525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0204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878824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05560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232392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40917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58596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762744" y="399592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93952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0116312" y="399592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029309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818120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994904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171688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348472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525256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702040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878824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055608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232392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09176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585960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762744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939528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0116312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293096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81812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99490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17168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34847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52525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70204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887882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05560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23239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0917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58596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76274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93952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11631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29309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023189" y="2079588"/>
            <a:ext cx="120213" cy="120213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S</a:t>
            </a:r>
          </a:p>
        </p:txBody>
      </p:sp>
      <p:sp>
        <p:nvSpPr>
          <p:cNvPr id="241" name="Oval 240"/>
          <p:cNvSpPr/>
          <p:nvPr/>
        </p:nvSpPr>
        <p:spPr>
          <a:xfrm>
            <a:off x="10144597" y="4200996"/>
            <a:ext cx="120213" cy="120213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G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6812280" y="4279392"/>
            <a:ext cx="164592" cy="164592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031736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訪問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7644383" y="427939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863839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経路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8476486" y="427939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695942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S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9162286" y="427939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381742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G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583680" y="4800600"/>
            <a:ext cx="5120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812280" y="4937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503920" y="49377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キュー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81228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時間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8503920" y="52120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O(V + E)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812280" y="5486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空間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503920" y="5486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O(V)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812280" y="5760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最短経路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503920" y="57607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○ 最短を保証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A*（エースター）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A-star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実コスト g とゴールまでの推定 h を足した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f = g + h が小さいマスを優先して選ぶ。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g=距離, h=ゴールまでの推定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f=g+h が最小のマスを選ぶ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隣の g を更新して候補に追加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ゴールまで繰り返す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h（推定）が妥当なら最短を保証しつつ、ゴール方向に絞って探すので BFS より無駄が少ない。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この迷路での結果 — 訪問 61 マス / 経路 25 マス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490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168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847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2525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0204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882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560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239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0917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8596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6274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3952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1631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9309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4904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1688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48472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25256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02040" y="205130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78824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5608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2392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09176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85960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62744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39528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16312" y="205130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93096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18120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94904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7168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48472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25256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02040" y="222808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78824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560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32392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09176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85960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62744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3952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16312" y="2228087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93096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18120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94904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71688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48472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25256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02040" y="240487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878824" y="240487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55608" y="240487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2392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09176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85960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762744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939528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16312" y="240487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93096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818120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994904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71688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8472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52525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02040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878824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55608" y="258165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232392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40917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585960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762744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939528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116312" y="2581655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9309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818120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994904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71688" y="275843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48472" y="275843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525256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02040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878824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55608" y="275843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232392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409176" y="275843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85960" y="275843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762744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939528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16312" y="275843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93096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18120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9490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71688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348472" y="293522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25256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02040" y="293522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7882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055608" y="293522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32392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409176" y="293522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585960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6274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939528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116312" y="293522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293096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818120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994904" y="3112007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171688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348472" y="3112007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525256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702040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878824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055608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232392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409176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585960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762744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939528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116312" y="311200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293096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818120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994904" y="328879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17168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348472" y="328879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52525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02040" y="328879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878824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05560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232392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40917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585960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762744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93952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116312" y="328879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29309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818120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994904" y="3465575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171688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348472" y="3465575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25256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702040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878824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055608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232392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409176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585960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762744" y="3465575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939528" y="3465575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116312" y="3465575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293096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818120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994904" y="364235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17168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348472" y="3642359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525256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702040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878824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5560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232392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409176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585960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762744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93952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0116312" y="3642359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293096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18120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94904" y="381914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171688" y="381914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48472" y="3819143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25256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702040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878824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055608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232392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409176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585960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762744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939528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116312" y="3819143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293096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81812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994904" y="3995927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17168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348472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52525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0204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878824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05560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232392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40917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58596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762744" y="399592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93952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0116312" y="3995927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029309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818120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994904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171688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348472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525256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702040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878824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055608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232392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09176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585960" y="4172711"/>
            <a:ext cx="176784" cy="17678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762744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939528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0116312" y="4172711"/>
            <a:ext cx="176784" cy="176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293096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81812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99490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17168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34847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52525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70204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887882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05560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23239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0917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58596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76274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93952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11631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29309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023189" y="2079588"/>
            <a:ext cx="120213" cy="120213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S</a:t>
            </a:r>
          </a:p>
        </p:txBody>
      </p:sp>
      <p:sp>
        <p:nvSpPr>
          <p:cNvPr id="241" name="Oval 240"/>
          <p:cNvSpPr/>
          <p:nvPr/>
        </p:nvSpPr>
        <p:spPr>
          <a:xfrm>
            <a:off x="10144597" y="4200996"/>
            <a:ext cx="120213" cy="120213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G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6812280" y="4279392"/>
            <a:ext cx="164592" cy="164592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031736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訪問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7644383" y="427939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863839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経路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8476486" y="427939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695942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S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9162286" y="427939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381742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G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583680" y="4800600"/>
            <a:ext cx="5120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812280" y="4937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503920" y="49377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優先度キュー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81228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時間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8503920" y="52120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O(E)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812280" y="5486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空間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503920" y="5486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O(V)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812280" y="5760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最短経路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503920" y="57607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○ 最短を保証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ランダムウォーク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Random Walk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今いるマスから、隣の通路をランダムに選んで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進むだけ。記憶も計画もしない。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S に立つ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隣の通路を1つ無作為に選ぶ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そこへ移動（同じ道も通る）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運よくゴールに着くまで歩く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同じ所を何度も通り、非常に効率が悪い。『戦略がないとどうなるか』の比較用。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この迷路での結果 — 訪問 99 マス / 548 歩で到達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490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168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4847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2525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0204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882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560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239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0917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85960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62744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39528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16312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93096" y="187451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4904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1688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48472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25256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02040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78824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5608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2392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09176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85960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62744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39528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16312" y="205130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93096" y="205130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18120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94904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7168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48472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25256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02040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78824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560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32392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09176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85960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62744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39528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16312" y="222808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93096" y="222808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18120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94904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71688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48472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25256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02040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878824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55608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2392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09176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85960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762744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939528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16312" y="240487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93096" y="240487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818120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994904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71688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8472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52525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02040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878824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55608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232392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40917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585960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762744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939528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116312" y="258165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93096" y="258165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818120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994904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71688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48472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525256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702040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878824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55608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232392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409176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85960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762744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939528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116312" y="275843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93096" y="275843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18120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9490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71688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348472" y="293522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25256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02040" y="293522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7882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055608" y="293522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32392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409176" y="293522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585960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62744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939528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116312" y="293522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293096" y="293522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818120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994904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171688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348472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525256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702040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878824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055608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232392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409176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585960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762744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939528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116312" y="311200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293096" y="311200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818120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994904" y="328879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17168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348472" y="328879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52525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02040" y="328879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878824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05560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232392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40917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585960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762744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939528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116312" y="328879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293096" y="328879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818120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994904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171688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348472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25256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702040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878824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055608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232392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409176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585960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762744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939528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116312" y="3465575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293096" y="346557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818120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994904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17168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348472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525256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702040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878824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5560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232392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409176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585960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762744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939528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0116312" y="3642359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293096" y="3642359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18120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94904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171688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48472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25256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702040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878824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055608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232392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409176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585960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762744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939528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116312" y="3819143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293096" y="3819143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81812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994904" y="399592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17168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348472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52525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0204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878824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05560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232392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40917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585960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762744" y="399592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939528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0116312" y="3995927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0293096" y="3995927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818120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994904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171688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348472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525256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702040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878824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055608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232392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09176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585960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762744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939528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0116312" y="4172711"/>
            <a:ext cx="176784" cy="17678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293096" y="4172711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81812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99490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17168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34847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52525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70204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887882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05560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23239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0917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585960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762744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939528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116312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293096" y="4349495"/>
            <a:ext cx="176784" cy="17678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023189" y="2079588"/>
            <a:ext cx="120213" cy="120213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S</a:t>
            </a:r>
          </a:p>
        </p:txBody>
      </p:sp>
      <p:sp>
        <p:nvSpPr>
          <p:cNvPr id="241" name="Oval 240"/>
          <p:cNvSpPr/>
          <p:nvPr/>
        </p:nvSpPr>
        <p:spPr>
          <a:xfrm>
            <a:off x="10144597" y="4200996"/>
            <a:ext cx="120213" cy="120213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G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6812280" y="4279392"/>
            <a:ext cx="164592" cy="164592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031736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訪問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7644383" y="427939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863839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経路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8476486" y="427939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695942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S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9162286" y="427939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381742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G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583680" y="4800600"/>
            <a:ext cx="5120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812280" y="4937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データ構造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503920" y="49377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なし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81228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時間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8503920" y="52120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期待値は大（不定）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812280" y="5486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空間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503920" y="5486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O(1)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6812280" y="5760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最短経路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503920" y="57607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Consolas"/>
              </a:rPr>
              <a:t>× 保証なし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壁伝い法（左手法・右手法）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Wall Follower — 地図を持たず、片手を壁につけて歩く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852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片方の手をずっと壁につけたまま歩く。分かれ道でも</a:t>
            </a:r>
            <a:r>
              <a:rPr sz="1400" b="1">
                <a:solidFill>
                  <a:srgbClr val="2F7FD9"/>
                </a:solidFill>
                <a:latin typeface="Meiryo"/>
              </a:rPr>
              <a:t>つけている側の壁</a:t>
            </a:r>
            <a:r>
              <a:rPr sz="1400" b="0">
                <a:solidFill>
                  <a:srgbClr val="1A2030"/>
                </a:solidFill>
                <a:latin typeface="Meiryo"/>
              </a:rPr>
              <a:t>に沿って曲がるだけ。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迷路全体の地図も、座標も、訪問記録もいらない（記憶 O(1)）。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手順（右手法の例）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1. 進む向きを1つ決める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2. 右手側が空いていれば右へ曲がる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3. ふさがっていれば 直進 → 左 → 後戻り の順で試す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4. これを繰り返すだけ（左手法は左右が逆）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4068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FD24A"/>
                </a:solidFill>
                <a:latin typeface="Meiryo"/>
              </a:rPr>
              <a:t>ポイント: </a:t>
            </a:r>
            <a:r>
              <a:rPr sz="1300" b="1">
                <a:solidFill>
                  <a:srgbClr val="2F7FD9"/>
                </a:solidFill>
                <a:latin typeface="Meiryo"/>
              </a:rPr>
              <a:t>ループの無い迷路なら必ずゴールに着く</a:t>
            </a:r>
            <a:r>
              <a:rPr sz="1300" b="0">
                <a:solidFill>
                  <a:srgbClr val="FFD24A"/>
                </a:solidFill>
                <a:latin typeface="Meiryo"/>
              </a:rPr>
              <a:t>（ただし遠回り）。ループのある迷路では同じ所を巡り続けて戻れないことがある。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同じ迷路・同じルール。つける手が違うだけで道が変わる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288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7FD9"/>
                </a:solidFill>
                <a:latin typeface="Meiryo"/>
              </a:rPr>
              <a:t>左手法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95744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42048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88352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34656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27264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9872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66176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58784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05088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51392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97696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9440" y="238658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95744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42048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88352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34656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80960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27264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3568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19872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66176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12480" y="238658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58784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05088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51392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97696" y="238658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0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95744" y="253288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42048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88352" y="253288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34656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80960" y="253288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27264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73568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19872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66176" y="253288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0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58784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05088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851392" y="253288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97696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949440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95744" y="267919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42048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88352" y="267919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34656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80960" y="267919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27264" y="267919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973568" y="267919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19872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66176" y="267919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12480" y="267919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558784" y="267919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05088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51392" y="267919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97696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49440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95744" y="282549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42048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88352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34656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80960" y="282549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827264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973568" y="282549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119872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266176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412480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58784" y="282549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05088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851392" y="282549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997696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949440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095744" y="297180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242048" y="297180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388352" y="297180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34656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80960" y="297180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827264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973568" y="297180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119872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266176" y="297180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12480" y="297180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558784" y="297180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05088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51392" y="297180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97696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949440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095744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242048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388352" y="311810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534656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680960" y="311810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827264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973568" y="311810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119872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266176" y="311810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412480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558784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705088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51392" y="311810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997696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949440" y="326440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095744" y="326440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242048" y="326440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388352" y="326440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534656" y="326440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680960" y="326440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827264" y="326440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973568" y="326440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119872" y="326440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266176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412480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558784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05088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851392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997696" y="326440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949440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095744" y="341071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242048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388352" y="341071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534656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680960" y="341071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827264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973568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119872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266176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412480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558784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705088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851392" y="341071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97696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949440" y="355701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095744" y="355701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242048" y="355701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388352" y="355701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534656" y="355701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680960" y="355701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827264" y="355701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973568" y="355701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119872" y="355701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266176" y="355701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412480" y="355701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558784" y="355701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705088" y="355701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51392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997696" y="355701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49440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95744" y="370332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42048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88352" y="370332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34656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680960" y="370332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827264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973568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119872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266176" y="370332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412480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558784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705088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851392" y="370332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997696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949440" y="384962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095744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242048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388352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534656" y="384962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680960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827264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973568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119872" y="384962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266176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412480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558784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705088" y="384962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851392" y="384962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997696" y="384962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949440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095744" y="399592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242048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388352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534656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680960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827264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973568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119872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266176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412480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558784" y="399592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8705088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8851392" y="399592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997696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949440" y="414223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095744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242048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388352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7534656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7680960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7827264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973568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119872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266176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412480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558784" y="414223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705088" y="414223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851392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997696" y="414223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949440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095744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242048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388352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534656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680960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827264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3568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119872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266176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412480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8558784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8705088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8851392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997696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7119152" y="2409992"/>
            <a:ext cx="99486" cy="9948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S</a:t>
            </a:r>
          </a:p>
        </p:txBody>
      </p:sp>
      <p:sp>
        <p:nvSpPr>
          <p:cNvPr id="242" name="Oval 241"/>
          <p:cNvSpPr/>
          <p:nvPr/>
        </p:nvSpPr>
        <p:spPr>
          <a:xfrm>
            <a:off x="8874800" y="4165640"/>
            <a:ext cx="99486" cy="99486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G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949440" y="45262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Meiryo"/>
              </a:rPr>
              <a:t>訪問 37 / 44 歩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9326880" y="18288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ADE80"/>
                </a:solidFill>
                <a:latin typeface="Meiryo"/>
              </a:rPr>
              <a:t>右手法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326880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473184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619488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765792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912096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0058400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204704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351008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0497312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0643616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0789920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936224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1082528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1228832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1375136" y="224028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326880" y="238658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473184" y="238658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619488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65792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912096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0058400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204704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0351008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0497312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643616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0789920" y="238658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0936224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1082528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1228832" y="238658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1375136" y="238658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326880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473184" y="253288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619488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765792" y="253288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912096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058400" y="253288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204704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0351008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497312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0643616" y="253288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789920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0936224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1082528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1228832" y="2532888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1375136" y="253288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326880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9473184" y="267919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9619488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9765792" y="267919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912096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58400" y="267919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204704" y="267919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351008" y="267919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497312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643616" y="267919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789920" y="267919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936224" y="267919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1082528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228832" y="2679192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1375136" y="267919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326880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9473184" y="282549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9619488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9765792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9912096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058400" y="282549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204704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351008" y="282549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497312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643616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789920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936224" y="282549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1082528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1228832" y="2825496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1375136" y="282549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9326880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9473184" y="297180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9619488" y="297180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9765792" y="297180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9912096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058400" y="297180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204704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351008" y="297180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497312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643616" y="297180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789920" y="297180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936224" y="297180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1082528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1228832" y="297180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1375136" y="297180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9326880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9473184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9619488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9765792" y="311810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9912096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058400" y="311810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04704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351008" y="311810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497312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643616" y="311810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789920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936224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1082528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1228832" y="311810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1375136" y="311810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9326880" y="326440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9473184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9619488" y="326440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9765792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9912096" y="326440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058400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204704" y="326440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351008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97312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643616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789920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936224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1082528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1228832" y="326440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1375136" y="326440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9326880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9473184" y="341071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9619488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9765792" y="341071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9912096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058400" y="341071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204704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351008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497312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643616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789920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936224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1082528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1228832" y="341071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1375136" y="341071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9326880" y="355701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9473184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9619488" y="355701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9765792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9912096" y="355701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058400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204704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351008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497312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43616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789920" y="355701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936224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1082528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1228832" y="3557016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1375136" y="355701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9326880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9473184" y="370332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9619488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9765792" y="370332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9912096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058400" y="3703320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204704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351008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497312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643616" y="370332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789920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936224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1082528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1228832" y="3703320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1375136" y="3703320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9326880" y="384962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9473184" y="384962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9619488" y="384962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9765792" y="384962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9912096" y="384962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58400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204704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351008" y="3849624"/>
            <a:ext cx="146304" cy="14630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497312" y="384962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643616" y="384962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789920" y="384962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36224" y="384962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1082528" y="384962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1228832" y="3849624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1375136" y="3849624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9326880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9473184" y="399592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9619488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9765792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9912096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058400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204704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351008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497312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643616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0789920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0936224" y="399592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082528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228832" y="3995928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375136" y="3995928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9326880" y="414223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9473184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9619488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9765792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9912096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0058400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0204704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0351008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0497312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0643616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0789920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0936224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082528" y="414223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28832" y="4142232"/>
            <a:ext cx="146304" cy="14630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375136" y="4142232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9326880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9473184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9619488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9765792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9912096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0058400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0204704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0351008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0497312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0643616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0789920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0936224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082528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28832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375136" y="4288536"/>
            <a:ext cx="146304" cy="14630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9496592" y="2409992"/>
            <a:ext cx="99486" cy="9948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S</a:t>
            </a:r>
          </a:p>
        </p:txBody>
      </p:sp>
      <p:sp>
        <p:nvSpPr>
          <p:cNvPr id="471" name="Oval 470"/>
          <p:cNvSpPr/>
          <p:nvPr/>
        </p:nvSpPr>
        <p:spPr>
          <a:xfrm>
            <a:off x="11252240" y="4165640"/>
            <a:ext cx="99486" cy="99486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G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9326880" y="45262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Meiryo"/>
              </a:rPr>
              <a:t>訪問 67 / 72 歩</a:t>
            </a:r>
          </a:p>
        </p:txBody>
      </p:sp>
      <p:sp>
        <p:nvSpPr>
          <p:cNvPr id="473" name="Rounded Rectangle 472"/>
          <p:cNvSpPr/>
          <p:nvPr/>
        </p:nvSpPr>
        <p:spPr>
          <a:xfrm>
            <a:off x="6812280" y="5056632"/>
            <a:ext cx="164592" cy="164592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7031736" y="50109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歩いた跡</a:t>
            </a:r>
          </a:p>
        </p:txBody>
      </p:sp>
      <p:sp>
        <p:nvSpPr>
          <p:cNvPr id="475" name="Rounded Rectangle 474"/>
          <p:cNvSpPr/>
          <p:nvPr/>
        </p:nvSpPr>
        <p:spPr>
          <a:xfrm>
            <a:off x="7936992" y="5056632"/>
            <a:ext cx="164592" cy="16459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8156448" y="50109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S</a:t>
            </a:r>
          </a:p>
        </p:txBody>
      </p:sp>
      <p:sp>
        <p:nvSpPr>
          <p:cNvPr id="477" name="Rounded Rectangle 476"/>
          <p:cNvSpPr/>
          <p:nvPr/>
        </p:nvSpPr>
        <p:spPr>
          <a:xfrm>
            <a:off x="8622792" y="5056632"/>
            <a:ext cx="164592" cy="164592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8842248" y="50109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G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6812280" y="5486400"/>
            <a:ext cx="4663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データ構造: なし（足元の規則だけ）  空間: O(1)  最短: ×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5D6B82"/>
                </a:solidFill>
                <a:latin typeface="Meiryo"/>
              </a:rPr>
              <a:t>DFS/BFS/A* が『全体を見て次を選ぶ』のに対し、壁伝いは『今の足元だけ』で決める。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4つの探索を同じ迷路で比較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訪問したマスが少ないほど効率的（経路長は最短なら同じ）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6400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54480"/>
                <a:gridCol w="731520"/>
                <a:gridCol w="914400"/>
                <a:gridCol w="1005840"/>
                <a:gridCol w="914400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122A"/>
                          </a:solidFill>
                          <a:latin typeface="Meiryo"/>
                        </a:rPr>
                        <a:t>アルゴリズム</a:t>
                      </a:r>
                    </a:p>
                  </a:txBody>
                  <a:tcPr marL="64008" marR="27432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122A"/>
                          </a:solidFill>
                          <a:latin typeface="Meiryo"/>
                        </a:rPr>
                        <a:t>データ構造</a:t>
                      </a:r>
                    </a:p>
                  </a:txBody>
                  <a:tcPr marL="64008" marR="27432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122A"/>
                          </a:solidFill>
                          <a:latin typeface="Meiryo"/>
                        </a:rPr>
                        <a:t>最短</a:t>
                      </a:r>
                    </a:p>
                  </a:txBody>
                  <a:tcPr marL="64008" marR="27432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122A"/>
                          </a:solidFill>
                          <a:latin typeface="Meiryo"/>
                        </a:rPr>
                        <a:t>経路長</a:t>
                      </a:r>
                    </a:p>
                  </a:txBody>
                  <a:tcPr marL="64008" marR="27432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122A"/>
                          </a:solidFill>
                          <a:latin typeface="Meiryo"/>
                        </a:rPr>
                        <a:t>訪問マス</a:t>
                      </a:r>
                    </a:p>
                  </a:txBody>
                  <a:tcPr marL="64008" marR="27432" marT="18288" marB="18288" anchor="ctr">
                    <a:solidFill>
                      <a:srgbClr val="2F7F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122A"/>
                          </a:solidFill>
                          <a:latin typeface="Meiryo"/>
                        </a:rPr>
                        <a:t>ひとこと</a:t>
                      </a:r>
                    </a:p>
                  </a:txBody>
                  <a:tcPr marL="64008" marR="27432" marT="18288" marB="18288" anchor="ctr">
                    <a:solidFill>
                      <a:srgbClr val="2F7FD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DFS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スタック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D6B82"/>
                          </a:solidFill>
                          <a:latin typeface="Meiryo"/>
                        </a:rPr>
                        <a:t>×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030"/>
                          </a:solidFill>
                          <a:latin typeface="Consolas"/>
                        </a:rPr>
                        <a:t>61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030"/>
                          </a:solidFill>
                          <a:latin typeface="Consolas"/>
                        </a:rPr>
                        <a:t>67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遠回りしがち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BFS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キュー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ADE80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030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030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波紋状・必ず最短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A*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優先度キュー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ADE80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030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030"/>
                          </a:solidFill>
                          <a:latin typeface="Consolas"/>
                        </a:rPr>
                        <a:t>61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ゴール方向・無駄少</a:t>
                      </a:r>
                    </a:p>
                  </a:txBody>
                  <a:tcPr marL="64008" marR="27432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ランダム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なし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D6B82"/>
                          </a:solidFill>
                          <a:latin typeface="Meiryo"/>
                        </a:rPr>
                        <a:t>×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030"/>
                          </a:solidFill>
                          <a:latin typeface="Consolas"/>
                        </a:rPr>
                        <a:t>548歩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030"/>
                          </a:solidFill>
                          <a:latin typeface="Consolas"/>
                        </a:rPr>
                        <a:t>99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30"/>
                          </a:solidFill>
                          <a:latin typeface="Meiryo"/>
                        </a:rPr>
                        <a:t>あてもなく低効率</a:t>
                      </a:r>
                    </a:p>
                  </a:txBody>
                  <a:tcPr marL="64008" marR="27432" marT="18288" marB="18288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0" y="1417320"/>
            <a:ext cx="4572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5544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A2030"/>
                </a:solidFill>
                <a:latin typeface="Meiryo"/>
              </a:rPr>
              <a:t>訪問マス数（短いほど効率的）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1031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Meiryo"/>
              </a:rPr>
              <a:t>DFS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130552"/>
            <a:ext cx="1856509" cy="23774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68989" y="21031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7004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Meiryo"/>
              </a:rPr>
              <a:t>BFS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697480"/>
            <a:ext cx="2660072" cy="237744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72552" y="267004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236976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Meiryo"/>
              </a:rPr>
              <a:t>A*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3264408"/>
            <a:ext cx="1690254" cy="237744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2734" y="32369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803904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A2030"/>
                </a:solidFill>
                <a:latin typeface="Meiryo"/>
              </a:rPr>
              <a:t>ランダム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831336"/>
            <a:ext cx="2743200" cy="237744"/>
          </a:xfrm>
          <a:prstGeom prst="roundRect">
            <a:avLst/>
          </a:prstGeom>
          <a:solidFill>
            <a:srgbClr val="FFD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0" y="380390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82"/>
                </a:solidFill>
                <a:latin typeface="Meiryo"/>
              </a:rPr>
              <a:t>99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09160"/>
            <a:ext cx="112471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F7FD9"/>
                </a:solidFill>
                <a:latin typeface="Meiryo"/>
              </a:rPr>
              <a:t>BFS（広く探す）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5424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768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1456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66800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52144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37488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22832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08176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93520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78864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64208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49552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34896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20598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5424" y="520598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0768" y="520598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" y="520598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1456" y="520598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800" y="520598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52144" y="520598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37488" y="520598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22832" y="520598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08176" y="520598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93520" y="520598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78864" y="520598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64208" y="520598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749552" y="520598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34896" y="520598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5424" y="529132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0768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112" y="529132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1456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66800" y="529132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52144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37488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322832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408176" y="529132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93520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578864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64208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749552" y="529132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834896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25424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0768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6112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1456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66800" y="5376672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52144" y="5376672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37488" y="5376672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22832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08176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93520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578864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64208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749552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834896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40080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25424" y="546201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10768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96112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81456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66800" y="546201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52144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237488" y="5462016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22832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08176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493520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578864" y="546201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664208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749552" y="546201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834896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40080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25424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10768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6112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81456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66800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52144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237488" y="5547360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322832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08176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493520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578864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664208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749552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834896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40080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25424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10768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96112" y="563270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1456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6800" y="563270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52144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237488" y="563270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322832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408176" y="563270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493520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578864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664208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749552" y="563270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834896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40080" y="571804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25424" y="571804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10768" y="571804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96112" y="571804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81456" y="571804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66800" y="571804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52144" y="571804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237488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322832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408176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493520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578864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664208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749552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834896" y="571804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40080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25424" y="580339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10768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6112" y="580339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81456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66800" y="580339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52144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237488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322832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408176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493520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578864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664208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749552" y="5803392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834896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0080" y="588873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25424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10768" y="588873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6112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81456" y="588873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66800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152144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237488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322832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408176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493520" y="588873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578864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664208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749552" y="5888736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834896" y="588873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40080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25424" y="597408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10768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96112" y="597408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81456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66800" y="597408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152144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237488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322832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408176" y="597408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493520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578864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664208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749552" y="5974080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834896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40080" y="605942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25424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10768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96112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81456" y="605942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66800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52144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237488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322832" y="605942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408176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493520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578864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664208" y="605942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749552" y="605942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834896" y="605942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640080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25424" y="614476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10768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96112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81456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066800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152144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237488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322832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408176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493520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578864" y="614476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664208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749552" y="614476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834896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40080" y="623011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25424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10768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96112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81456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66800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52144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237488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322832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408176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493520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578864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4208" y="623011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749552" y="6230112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834896" y="623011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40080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25424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10768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896112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81456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66800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152144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237488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322832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408176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493520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578864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664208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49552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834896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739079" y="5219639"/>
            <a:ext cx="58033" cy="58033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S</a:t>
            </a:r>
          </a:p>
        </p:txBody>
      </p:sp>
      <p:sp>
        <p:nvSpPr>
          <p:cNvPr id="250" name="Oval 249"/>
          <p:cNvSpPr/>
          <p:nvPr/>
        </p:nvSpPr>
        <p:spPr>
          <a:xfrm>
            <a:off x="1763207" y="6243767"/>
            <a:ext cx="58033" cy="58033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G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377440" y="48006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ADE80"/>
                </a:solidFill>
                <a:latin typeface="Meiryo"/>
              </a:rPr>
              <a:t>A*（ゴール方向に絞る）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2377440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2462784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2548128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633472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718816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804160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2889504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2974848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3060192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3145536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3230880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3316224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3401568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3486912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3572256" y="512064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2377440" y="520598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462784" y="520598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2548128" y="520598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2633472" y="520598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2718816" y="520598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2804160" y="520598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2889504" y="520598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2974848" y="520598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3060192" y="520598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3145536" y="520598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3230880" y="520598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3316224" y="520598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3401568" y="520598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3486912" y="520598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3572256" y="520598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2377440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2462784" y="529132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2548128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2633472" y="529132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2718816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2804160" y="529132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2889504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2974848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3060192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145536" y="529132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3230880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316224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401568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486912" y="5291328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3572256" y="529132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377440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462784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2548128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2633472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2718816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2804160" y="5376672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2889504" y="5376672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2974848" y="5376672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060192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3145536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230880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3316224" y="537667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401568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486912" y="537667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3572256" y="537667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2377440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2462784" y="546201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2548128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2633472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2718816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2804160" y="546201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2889504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2974848" y="5462016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3060192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3145536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3230880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316224" y="546201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3401568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3486912" y="5462016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3572256" y="546201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377440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462784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2548128" y="5547360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633472" y="5547360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2718816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2804160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889504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2974848" y="5547360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3060192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3145536" y="5547360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3230880" y="5547360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3316224" y="554736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401568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3486912" y="5547360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3572256" y="554736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2377440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2462784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2548128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2633472" y="563270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2718816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2804160" y="563270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2889504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2974848" y="563270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060192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3145536" y="563270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3230880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316224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3401568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3486912" y="563270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3572256" y="563270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377440" y="571804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462784" y="5718048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2548128" y="571804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2633472" y="5718048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2718816" y="571804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2804160" y="571804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2889504" y="571804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2974848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3060192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3145536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3230880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3316224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3401568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3486912" y="571804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3572256" y="571804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2377440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2462784" y="580339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2548128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2633472" y="580339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2718816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2804160" y="580339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2889504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2974848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3060192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3145536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3230880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3316224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3401568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3486912" y="5803392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3572256" y="580339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377440" y="588873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462784" y="5888736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2548128" y="588873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2633472" y="5888736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2718816" y="588873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2804160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2889504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2974848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3060192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3145536" y="5888736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3230880" y="588873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3316224" y="5888736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3401568" y="5888736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3486912" y="5888736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3572256" y="588873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2377440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2462784" y="5974080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2548128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2633472" y="5974080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2718816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2804160" y="597408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2889504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2974848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3060192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3145536" y="5974080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3230880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3316224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3401568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3486912" y="5974080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3572256" y="5974080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2377440" y="605942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2462784" y="605942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2548128" y="605942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2633472" y="6059424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2718816" y="605942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2804160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2889504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2974848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3060192" y="605942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3145536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3230880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3316224" y="6059424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3401568" y="605942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3486912" y="6059424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3572256" y="6059424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2377440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2462784" y="6144768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2548128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2633472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2718816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2804160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2889504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2974848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3060192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3145536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3230880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3316224" y="6144768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3401568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3486912" y="6144768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3572256" y="6144768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2377440" y="623011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2462784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2548128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2633472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2718816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2804160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2889504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2974848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3060192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3145536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3230880" y="6230112"/>
            <a:ext cx="85344" cy="85344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3316224" y="6230112"/>
            <a:ext cx="85344" cy="85344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3401568" y="623011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3486912" y="6230112"/>
            <a:ext cx="85344" cy="853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3572256" y="6230112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2377440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2462784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2548128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2633472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2718816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2804160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2889504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2974848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3060192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3145536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3230880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3316224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3401568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3486912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3572256" y="6315456"/>
            <a:ext cx="85344" cy="85344"/>
          </a:xfrm>
          <a:prstGeom prst="rect">
            <a:avLst/>
          </a:prstGeom>
          <a:solidFill>
            <a:srgbClr val="2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2476439" y="5219639"/>
            <a:ext cx="58033" cy="58033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S</a:t>
            </a:r>
          </a:p>
        </p:txBody>
      </p:sp>
      <p:sp>
        <p:nvSpPr>
          <p:cNvPr id="478" name="Oval 477"/>
          <p:cNvSpPr/>
          <p:nvPr/>
        </p:nvSpPr>
        <p:spPr>
          <a:xfrm>
            <a:off x="3500567" y="6243767"/>
            <a:ext cx="58033" cy="58033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122A"/>
                </a:solidFill>
                <a:latin typeface="Meiryo"/>
              </a:rPr>
              <a:t>G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4206240" y="498348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BFS と A* は同じ最短 25 マス。でも A* は </a:t>
            </a:r>
            <a:r>
              <a:rPr sz="1400" b="1">
                <a:solidFill>
                  <a:srgbClr val="2F7FD9"/>
                </a:solidFill>
                <a:latin typeface="Meiryo"/>
              </a:rPr>
              <a:t>訪問が少ない</a:t>
            </a:r>
            <a:r>
              <a:rPr sz="1400" b="0">
                <a:solidFill>
                  <a:srgbClr val="1A2030"/>
                </a:solidFill>
                <a:latin typeface="Meiryo"/>
              </a:rPr>
              <a:t>（61 対 96）。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DFS は経路 61 マスと大遠回り（最短の 2 倍超）。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ランダムは 548 歩も歩いてやっと到達＝桁違いに非効率。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※ h を 0 にすると A* は BFS と一致する。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まとめと演習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手を動かして確かめよう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今日のポイント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迷路探索は </a:t>
            </a:r>
            <a:r>
              <a:rPr sz="1500" b="1">
                <a:solidFill>
                  <a:srgbClr val="2F7FD9"/>
                </a:solidFill>
                <a:latin typeface="Meiryo"/>
              </a:rPr>
              <a:t>フロンティアから次を選ぶ</a:t>
            </a:r>
            <a:r>
              <a:rPr sz="1500" b="0">
                <a:solidFill>
                  <a:srgbClr val="1A2030"/>
                </a:solidFill>
                <a:latin typeface="Meiryo"/>
              </a:rPr>
              <a:t> 繰り返し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選び方（スタック/キュー/優先度）で性格が決まる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</a:t>
            </a:r>
            <a:r>
              <a:rPr sz="1500" b="1">
                <a:solidFill>
                  <a:srgbClr val="2F7FD9"/>
                </a:solidFill>
                <a:latin typeface="Meiryo"/>
              </a:rPr>
              <a:t>BFS・A</a:t>
            </a:r>
            <a:r>
              <a:rPr sz="1500" b="0">
                <a:solidFill>
                  <a:srgbClr val="1A2030"/>
                </a:solidFill>
                <a:latin typeface="Meiryo"/>
              </a:rPr>
              <a:t>* は最短を保証、</a:t>
            </a:r>
            <a:r>
              <a:rPr sz="1500" b="1">
                <a:solidFill>
                  <a:srgbClr val="2F7FD9"/>
                </a:solidFill>
                <a:latin typeface="Meiryo"/>
              </a:rPr>
              <a:t>DFS</a:t>
            </a:r>
            <a:r>
              <a:rPr sz="1500" b="0">
                <a:solidFill>
                  <a:srgbClr val="1A2030"/>
                </a:solidFill>
                <a:latin typeface="Meiryo"/>
              </a:rPr>
              <a:t> はしない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</a:t>
            </a:r>
            <a:r>
              <a:rPr sz="1500" b="1">
                <a:solidFill>
                  <a:srgbClr val="2F7FD9"/>
                </a:solidFill>
                <a:latin typeface="Meiryo"/>
              </a:rPr>
              <a:t>A</a:t>
            </a:r>
            <a:r>
              <a:rPr sz="1500" b="0">
                <a:solidFill>
                  <a:srgbClr val="1A2030"/>
                </a:solidFill>
                <a:latin typeface="Meiryo"/>
              </a:rPr>
              <a:t>* はゴール方向に絞れて訪問マスが少ない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</a:t>
            </a:r>
            <a:r>
              <a:rPr sz="1500" b="1">
                <a:solidFill>
                  <a:srgbClr val="2F7FD9"/>
                </a:solidFill>
                <a:latin typeface="Meiryo"/>
              </a:rPr>
              <a:t>壁伝い法</a:t>
            </a:r>
            <a:r>
              <a:rPr sz="1500" b="0">
                <a:solidFill>
                  <a:srgbClr val="1A2030"/>
                </a:solidFill>
                <a:latin typeface="Meiryo"/>
              </a:rPr>
              <a:t> は地図なしの局所ルール、</a:t>
            </a:r>
            <a:r>
              <a:rPr sz="1500" b="1">
                <a:solidFill>
                  <a:srgbClr val="2F7FD9"/>
                </a:solidFill>
                <a:latin typeface="Meiryo"/>
              </a:rPr>
              <a:t>ランダム</a:t>
            </a:r>
            <a:r>
              <a:rPr sz="1500" b="0">
                <a:solidFill>
                  <a:srgbClr val="1A2030"/>
                </a:solidFill>
                <a:latin typeface="Meiryo"/>
              </a:rPr>
              <a:t> は戦略なし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演習（ビジュアライザで）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1. 同じ迷路で BFS と A* の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「訪問マス数」を比べよう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2. 壁伝い法で左手法と右手法を切替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ゴールへの道はどう変わる？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3. 「ループあり」の迷路だと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壁伝い法は戻れる？ 各法はどう変わる？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▶ 付属ビジュアライザで体験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030"/>
                </a:solidFill>
                <a:latin typeface="Consolas"/>
              </a:rPr>
              <a:t>html/maze.html をブラウザで開く → 🌀新しい迷路 → アルゴリズムを選び「次へ」で1歩ずつ / ◀戻るで逆再生 / ↻やり直しで同じ迷路を別アルゴリズムと比較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おしまい — 自分の手で動かすのがいちばんの近道！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