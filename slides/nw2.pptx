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5486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A2030"/>
                </a:solidFill>
                <a:latin typeface="Meiryo"/>
              </a:rPr>
              <a:t>🧠 ニューラルネットワーク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F7FD9"/>
                </a:solidFill>
                <a:latin typeface="Meiryo"/>
              </a:rPr>
              <a:t>多層パーセプトロンの仕組みを数式とデモで理解する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順伝播 → 損失 → </a:t>
            </a:r>
            <a:r>
              <a:rPr sz="1600" b="1">
                <a:solidFill>
                  <a:srgbClr val="2F7FD9"/>
                </a:solidFill>
                <a:latin typeface="Meiryo"/>
              </a:rPr>
              <a:t>逆伝播</a:t>
            </a:r>
            <a:r>
              <a:rPr sz="1600" b="0">
                <a:solidFill>
                  <a:srgbClr val="5D6B82"/>
                </a:solidFill>
                <a:latin typeface="Meiryo"/>
              </a:rPr>
              <a:t> → 最適化 という「学習」の一連の流れを、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2F7FD9"/>
                </a:solidFill>
                <a:latin typeface="Meiryo"/>
              </a:rPr>
              <a:t>数式</a:t>
            </a:r>
            <a:r>
              <a:rPr sz="1600" b="0">
                <a:solidFill>
                  <a:srgbClr val="5D6B82"/>
                </a:solidFill>
                <a:latin typeface="Meiryo"/>
              </a:rPr>
              <a:t>と体験アプリ </a:t>
            </a:r>
            <a:r>
              <a:rPr sz="1600" b="1">
                <a:solidFill>
                  <a:srgbClr val="2F7FD9"/>
                </a:solidFill>
                <a:latin typeface="Meiryo"/>
              </a:rPr>
              <a:t>html/nw2.html</a:t>
            </a:r>
            <a:r>
              <a:rPr sz="1600" b="0">
                <a:solidFill>
                  <a:srgbClr val="5D6B82"/>
                </a:solidFill>
                <a:latin typeface="Meiryo"/>
              </a:rPr>
              <a:t> の観察でつなぐ講義スライド。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対になる教材：詳細ノート </a:t>
            </a:r>
            <a:r>
              <a:rPr sz="1600" b="1">
                <a:solidFill>
                  <a:srgbClr val="2F7FD9"/>
                </a:solidFill>
                <a:latin typeface="Meiryo"/>
              </a:rPr>
              <a:t>nw2.md</a:t>
            </a:r>
            <a:r>
              <a:rPr sz="1600" b="0">
                <a:solidFill>
                  <a:srgbClr val="5D6B82"/>
                </a:solidFill>
                <a:latin typeface="Meiryo"/>
              </a:rPr>
              <a:t> ／ 勾配降下法 </a:t>
            </a:r>
            <a:r>
              <a:rPr sz="1600" b="1">
                <a:solidFill>
                  <a:srgbClr val="2F7FD9"/>
                </a:solidFill>
                <a:latin typeface="Meiryo"/>
              </a:rPr>
              <a:t>html/gradient.html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Consolas"/>
              </a:rPr>
              <a:t>アルゴリズム・ビジュアル教材集</a:t>
            </a:r>
          </a:p>
        </p:txBody>
      </p:sp>
      <p:pic>
        <p:nvPicPr>
          <p:cNvPr id="8" name="Picture 7" descr="e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07" y="5202936"/>
            <a:ext cx="4683585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1. 問題設定 ― 何を学習するのか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2次元の点を2クラスに分ける関数をデータから作る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030"/>
                </a:solidFill>
                <a:latin typeface="Meiryo"/>
              </a:rPr>
              <a:t>平面上の点 </a:t>
            </a:r>
            <a:r>
              <a:rPr sz="1600" b="1">
                <a:solidFill>
                  <a:srgbClr val="2F7FD9"/>
                </a:solidFill>
                <a:latin typeface="Meiryo"/>
              </a:rPr>
              <a:t>x=(x₁,x₂)</a:t>
            </a:r>
            <a:r>
              <a:rPr sz="1600" b="0">
                <a:solidFill>
                  <a:srgbClr val="1A2030"/>
                </a:solidFill>
                <a:latin typeface="Meiryo"/>
              </a:rPr>
              <a:t> を受け取り、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030"/>
                </a:solidFill>
                <a:latin typeface="Meiryo"/>
              </a:rPr>
              <a:t>「赤である確率 </a:t>
            </a:r>
            <a:r>
              <a:rPr sz="1600" b="1">
                <a:solidFill>
                  <a:srgbClr val="2F7FD9"/>
                </a:solidFill>
                <a:latin typeface="Meiryo"/>
              </a:rPr>
              <a:t>p</a:t>
            </a:r>
            <a:r>
              <a:rPr sz="1600" b="0">
                <a:solidFill>
                  <a:srgbClr val="1A2030"/>
                </a:solidFill>
                <a:latin typeface="Meiryo"/>
              </a:rPr>
              <a:t>」を返す関数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030"/>
                </a:solidFill>
                <a:latin typeface="Meiryo"/>
              </a:rPr>
              <a:t>  </a:t>
            </a:r>
            <a:r>
              <a:rPr sz="1600" b="1">
                <a:solidFill>
                  <a:srgbClr val="2F7FD9"/>
                </a:solidFill>
                <a:latin typeface="Meiryo"/>
              </a:rPr>
              <a:t>p = F(x ; θ)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030"/>
                </a:solidFill>
                <a:latin typeface="Meiryo"/>
              </a:rPr>
              <a:t>を作る。</a:t>
            </a:r>
            <a:r>
              <a:rPr sz="1600" b="1">
                <a:solidFill>
                  <a:srgbClr val="2F7FD9"/>
                </a:solidFill>
                <a:latin typeface="Meiryo"/>
              </a:rPr>
              <a:t>θ</a:t>
            </a:r>
            <a:r>
              <a:rPr sz="1600" b="0">
                <a:solidFill>
                  <a:srgbClr val="1A2030"/>
                </a:solidFill>
                <a:latin typeface="Meiryo"/>
              </a:rPr>
              <a:t> は全ての重みとバイアス。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030"/>
                </a:solidFill>
                <a:latin typeface="Meiryo"/>
              </a:rPr>
              <a:t>「学習」とは、データに合うよう </a:t>
            </a:r>
            <a:r>
              <a:rPr sz="1600" b="1">
                <a:solidFill>
                  <a:srgbClr val="2F7FD9"/>
                </a:solidFill>
                <a:latin typeface="Meiryo"/>
              </a:rPr>
              <a:t>θ</a:t>
            </a:r>
            <a:r>
              <a:rPr sz="1600" b="0">
                <a:solidFill>
                  <a:srgbClr val="1A2030"/>
                </a:solidFill>
                <a:latin typeface="Meiryo"/>
              </a:rPr>
              <a:t> を調整すること。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640080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82296" cy="283464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511296"/>
            <a:ext cx="5998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なぜ直線では足りないか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2つの塊</a:t>
            </a:r>
            <a:r>
              <a:rPr sz="1500" b="0">
                <a:solidFill>
                  <a:srgbClr val="1A2030"/>
                </a:solidFill>
                <a:latin typeface="Meiryo"/>
              </a:rPr>
              <a:t> は1本の直線で分けられる（左図の破線）。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まる</a:t>
            </a: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渦巻き</a:t>
            </a:r>
            <a:r>
              <a:rPr sz="1500" b="0">
                <a:solidFill>
                  <a:srgbClr val="1A2030"/>
                </a:solidFill>
                <a:latin typeface="Meiryo"/>
              </a:rPr>
              <a:t> は直線では絶対に不可能＝</a:t>
            </a:r>
            <a:r>
              <a:rPr sz="1500" b="1">
                <a:solidFill>
                  <a:srgbClr val="2F7FD9"/>
                </a:solidFill>
                <a:latin typeface="Meiryo"/>
              </a:rPr>
              <a:t>非線形</a:t>
            </a:r>
            <a:r>
              <a:rPr sz="1500" b="0">
                <a:solidFill>
                  <a:srgbClr val="1A2030"/>
                </a:solidFill>
                <a:latin typeface="Meiryo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・この「曲がった境界」を作る力こそ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ニューラルネットワークの本質。</a:t>
            </a:r>
          </a:p>
        </p:txBody>
      </p:sp>
      <p:pic>
        <p:nvPicPr>
          <p:cNvPr id="12" name="Picture 11" descr="d_bl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220" y="1143000"/>
            <a:ext cx="146304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89720" y="16002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2つの塊：直線でOK</a:t>
            </a:r>
          </a:p>
        </p:txBody>
      </p:sp>
      <p:pic>
        <p:nvPicPr>
          <p:cNvPr id="14" name="Picture 13" descr="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2953512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9720" y="341071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まる：曲線が要る</a:t>
            </a:r>
          </a:p>
        </p:txBody>
      </p:sp>
      <p:pic>
        <p:nvPicPr>
          <p:cNvPr id="16" name="Picture 15" descr="d_spi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4764024"/>
            <a:ext cx="14630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9720" y="522122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渦巻き：さらに複雑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2. 順伝播 ① ニューロン1個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加重和にバイアスを足し、活性化関数に通す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64008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79" y="1591055"/>
            <a:ext cx="2902081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33172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2F7FD9"/>
                </a:solidFill>
                <a:latin typeface="Meiryo"/>
              </a:rPr>
              <a:t>w</a:t>
            </a:r>
            <a:r>
              <a:rPr sz="1350" b="0">
                <a:solidFill>
                  <a:srgbClr val="5D6B82"/>
                </a:solidFill>
                <a:latin typeface="Meiryo"/>
              </a:rPr>
              <a:t>：各入力の重視度（重み）／ </a:t>
            </a:r>
            <a:r>
              <a:rPr sz="1350" b="1">
                <a:solidFill>
                  <a:srgbClr val="2F7FD9"/>
                </a:solidFill>
                <a:latin typeface="Meiryo"/>
              </a:rPr>
              <a:t>b</a:t>
            </a:r>
            <a:r>
              <a:rPr sz="1350" b="0">
                <a:solidFill>
                  <a:srgbClr val="5D6B82"/>
                </a:solidFill>
                <a:latin typeface="Meiryo"/>
              </a:rPr>
              <a:t>：発火しやすさの下駄／ </a:t>
            </a:r>
            <a:r>
              <a:rPr sz="1350" b="1">
                <a:solidFill>
                  <a:srgbClr val="2F7FD9"/>
                </a:solidFill>
                <a:latin typeface="Meiryo"/>
              </a:rPr>
              <a:t>f</a:t>
            </a:r>
            <a:r>
              <a:rPr sz="1350" b="0">
                <a:solidFill>
                  <a:srgbClr val="5D6B82"/>
                </a:solidFill>
                <a:latin typeface="Meiryo"/>
              </a:rPr>
              <a:t>：非線形の「くせ」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83280"/>
            <a:ext cx="640080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82296" cy="2834640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5998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活性化関数がなぜ要る？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f</a:t>
            </a:r>
            <a:r>
              <a:rPr sz="1500" b="0">
                <a:solidFill>
                  <a:srgbClr val="1A2030"/>
                </a:solidFill>
                <a:latin typeface="Meiryo"/>
              </a:rPr>
              <a:t> が無い（=恒等）と、何層重ねても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合成はただの1次式＝</a:t>
            </a:r>
            <a:r>
              <a:rPr sz="1500" b="1">
                <a:solidFill>
                  <a:srgbClr val="2F7FD9"/>
                </a:solidFill>
                <a:latin typeface="Meiryo"/>
              </a:rPr>
              <a:t>直線の分類器</a:t>
            </a:r>
            <a:r>
              <a:rPr sz="1500" b="0">
                <a:solidFill>
                  <a:srgbClr val="1A2030"/>
                </a:solidFill>
                <a:latin typeface="Meiryo"/>
              </a:rPr>
              <a:t>にしかならない。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f</a:t>
            </a:r>
            <a:r>
              <a:rPr sz="1500" b="0">
                <a:solidFill>
                  <a:srgbClr val="1A2030"/>
                </a:solidFill>
                <a:latin typeface="Meiryo"/>
              </a:rPr>
              <a:t> の非線形性が、層を重ねるほど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複雑な境界を生む源泉になる。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097280"/>
            <a:ext cx="457200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1225295"/>
            <a:ext cx="41696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活性化関数 3種</a:t>
            </a:r>
          </a:p>
        </p:txBody>
      </p:sp>
      <p:pic>
        <p:nvPicPr>
          <p:cNvPr id="17" name="Picture 16" descr="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1600200"/>
            <a:ext cx="416052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40690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1">
                <a:solidFill>
                  <a:srgbClr val="2F7FD9"/>
                </a:solidFill>
                <a:latin typeface="Meiryo"/>
              </a:rPr>
              <a:t>tanh</a:t>
            </a:r>
            <a:r>
              <a:rPr sz="1350" b="0">
                <a:solidFill>
                  <a:srgbClr val="1A2030"/>
                </a:solidFill>
                <a:latin typeface="Meiryo"/>
              </a:rPr>
              <a:t>：出力(−1,1)・なめらか</a:t>
            </a:r>
          </a:p>
          <a:p>
            <a:pPr algn="l">
              <a:lnSpc>
                <a:spcPct val="140000"/>
              </a:lnSpc>
            </a:pPr>
            <a:r>
              <a:rPr sz="1350" b="1">
                <a:solidFill>
                  <a:srgbClr val="2F7FD9"/>
                </a:solidFill>
                <a:latin typeface="Meiryo"/>
              </a:rPr>
              <a:t>ReLU</a:t>
            </a:r>
            <a:r>
              <a:rPr sz="1350" b="0">
                <a:solidFill>
                  <a:srgbClr val="1A2030"/>
                </a:solidFill>
                <a:latin typeface="Meiryo"/>
              </a:rPr>
              <a:t>：軽い・折れ線・深い網に強い</a:t>
            </a:r>
          </a:p>
          <a:p>
            <a:pPr algn="l">
              <a:lnSpc>
                <a:spcPct val="140000"/>
              </a:lnSpc>
            </a:pPr>
            <a:r>
              <a:rPr sz="1350" b="1">
                <a:solidFill>
                  <a:srgbClr val="2F7FD9"/>
                </a:solidFill>
                <a:latin typeface="Meiryo"/>
              </a:rPr>
              <a:t>sigmoid</a:t>
            </a:r>
            <a:r>
              <a:rPr sz="1350" b="0">
                <a:solidFill>
                  <a:srgbClr val="1A2030"/>
                </a:solidFill>
                <a:latin typeface="Meiryo"/>
              </a:rPr>
              <a:t>：出力(0,1)・勾配消失しやすい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3. 順伝播 ② ネットワーク全体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層を行列で書き、入力から出力へ伝える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6492240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214884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25295"/>
            <a:ext cx="60899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層の計算（行列表記）</a:t>
            </a:r>
          </a:p>
        </p:txBody>
      </p:sp>
      <p:pic>
        <p:nvPicPr>
          <p:cNvPr id="10" name="Picture 9" descr="e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7" y="1920240"/>
            <a:ext cx="5366824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26517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D6B82"/>
                </a:solidFill>
                <a:latin typeface="Meiryo"/>
              </a:rPr>
              <a:t>入力 </a:t>
            </a:r>
            <a:r>
              <a:rPr sz="1350" b="1">
                <a:solidFill>
                  <a:srgbClr val="2F7FD9"/>
                </a:solidFill>
                <a:latin typeface="Meiryo"/>
              </a:rPr>
              <a:t>a⁽⁰⁾=x</a:t>
            </a:r>
            <a:r>
              <a:rPr sz="1350" b="0">
                <a:solidFill>
                  <a:srgbClr val="5D6B82"/>
                </a:solidFill>
                <a:latin typeface="Meiryo"/>
              </a:rPr>
              <a:t> から順に適用。</a:t>
            </a:r>
            <a:r>
              <a:rPr sz="1350" b="1">
                <a:solidFill>
                  <a:srgbClr val="2F7FD9"/>
                </a:solidFill>
                <a:latin typeface="Meiryo"/>
              </a:rPr>
              <a:t>出力層だけ σ</a:t>
            </a:r>
            <a:r>
              <a:rPr sz="1350" b="0">
                <a:solidFill>
                  <a:srgbClr val="5D6B82"/>
                </a:solidFill>
                <a:latin typeface="Meiryo"/>
              </a:rPr>
              <a:t> で 0〜1 の確率に。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6492240" cy="2788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557016"/>
            <a:ext cx="60899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出力＝確率</a:t>
            </a:r>
          </a:p>
        </p:txBody>
      </p:sp>
      <p:pic>
        <p:nvPicPr>
          <p:cNvPr id="14" name="Picture 13" descr="e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93" y="3886200"/>
            <a:ext cx="3143892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4709160"/>
            <a:ext cx="6035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2F7FD9"/>
                </a:solidFill>
                <a:latin typeface="Meiryo"/>
              </a:rPr>
              <a:t>M</a:t>
            </a:r>
            <a:r>
              <a:rPr sz="1400" b="0">
                <a:solidFill>
                  <a:srgbClr val="1A2030"/>
                </a:solidFill>
                <a:latin typeface="Meiryo"/>
              </a:rPr>
              <a:t> は重み行列の数（＝隠れ層の数 </a:t>
            </a:r>
            <a:r>
              <a:rPr sz="1400" b="1">
                <a:solidFill>
                  <a:srgbClr val="2F7FD9"/>
                </a:solidFill>
                <a:latin typeface="Meiryo"/>
              </a:rPr>
              <a:t>+1</a:t>
            </a:r>
            <a:r>
              <a:rPr sz="1400" b="0">
                <a:solidFill>
                  <a:srgbClr val="1A2030"/>
                </a:solidFill>
                <a:latin typeface="Meiryo"/>
              </a:rPr>
              <a:t>）。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図の各線が重み </a:t>
            </a:r>
            <a:r>
              <a:rPr sz="1400" b="1">
                <a:solidFill>
                  <a:srgbClr val="2F7FD9"/>
                </a:solidFill>
                <a:latin typeface="Meiryo"/>
              </a:rPr>
              <a:t>W</a:t>
            </a:r>
            <a:r>
              <a:rPr sz="1400" b="0">
                <a:solidFill>
                  <a:srgbClr val="1A2030"/>
                </a:solidFill>
                <a:latin typeface="Meiryo"/>
              </a:rPr>
              <a:t> の1成分、丸がニューロン。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デモでは右キャンバスにマウスを乗せると、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この伝播が光って見える。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097280"/>
            <a:ext cx="448056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8" y="1225295"/>
            <a:ext cx="4078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ネットワーク図（2→6→6→1）</a:t>
            </a:r>
          </a:p>
        </p:txBody>
      </p:sp>
      <p:pic>
        <p:nvPicPr>
          <p:cNvPr id="18" name="Picture 17" descr="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47297"/>
            <a:ext cx="4206240" cy="28377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60920" y="55321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D6B82"/>
                </a:solidFill>
                <a:latin typeface="Meiryo"/>
              </a:rPr>
              <a:t>線の色＝重みの符号（青＋/赤−）、太さ＝大きさ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4. 損失関数 ― どれだけ間違えているか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二値クロスエントロピー(BCE)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1155680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155448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429" y="1572767"/>
            <a:ext cx="3654661" cy="603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2834640"/>
            <a:ext cx="5486400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6265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直感</a:t>
            </a:r>
          </a:p>
        </p:txBody>
      </p:sp>
      <p:pic>
        <p:nvPicPr>
          <p:cNvPr id="12" name="Picture 11" descr="e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543" y="3419856"/>
            <a:ext cx="2411153" cy="384048"/>
          </a:xfrm>
          <a:prstGeom prst="rect">
            <a:avLst/>
          </a:prstGeom>
        </p:spPr>
      </p:pic>
      <p:pic>
        <p:nvPicPr>
          <p:cNvPr id="13" name="Picture 12" descr="eq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579" y="4059936"/>
            <a:ext cx="3089081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0916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正解が1なら </a:t>
            </a:r>
            <a:r>
              <a:rPr sz="1450" b="1">
                <a:solidFill>
                  <a:srgbClr val="2F7FD9"/>
                </a:solidFill>
                <a:latin typeface="Meiryo"/>
              </a:rPr>
              <a:t>p を1へ</a:t>
            </a:r>
            <a:r>
              <a:rPr sz="1450" b="0">
                <a:solidFill>
                  <a:srgbClr val="1A2030"/>
                </a:solidFill>
                <a:latin typeface="Meiryo"/>
              </a:rPr>
              <a:t>、0なら </a:t>
            </a:r>
            <a:r>
              <a:rPr sz="1450" b="1">
                <a:solidFill>
                  <a:srgbClr val="2F7FD9"/>
                </a:solidFill>
                <a:latin typeface="Meiryo"/>
              </a:rPr>
              <a:t>p を0へ</a:t>
            </a:r>
            <a:r>
              <a:rPr sz="1450" b="0">
                <a:solidFill>
                  <a:srgbClr val="1A2030"/>
                </a:solidFill>
                <a:latin typeface="Meiryo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外すほど </a:t>
            </a:r>
            <a:r>
              <a:rPr sz="1450" b="1">
                <a:solidFill>
                  <a:srgbClr val="2F7FD9"/>
                </a:solidFill>
                <a:latin typeface="Meiryo"/>
              </a:rPr>
              <a:t>−ln</a:t>
            </a:r>
            <a:r>
              <a:rPr sz="1450" b="0">
                <a:solidFill>
                  <a:srgbClr val="1A2030"/>
                </a:solidFill>
                <a:latin typeface="Meiryo"/>
              </a:rPr>
              <a:t> が急増して強く罰する。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5486400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82296" cy="3383280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96265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なぜ二乗誤差でなく BCE 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出力がシグモイドのとき、BCE だと勾配が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きれいな </a:t>
            </a:r>
            <a:r>
              <a:rPr sz="1450" b="1">
                <a:solidFill>
                  <a:srgbClr val="2F7FD9"/>
                </a:solidFill>
                <a:latin typeface="Meiryo"/>
              </a:rPr>
              <a:t>p − y</a:t>
            </a:r>
            <a:r>
              <a:rPr sz="1450" b="0">
                <a:solidFill>
                  <a:srgbClr val="1A2030"/>
                </a:solidFill>
                <a:latin typeface="Meiryo"/>
              </a:rPr>
              <a:t> になり（次頁）、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外したときに勾配が大きく </a:t>
            </a:r>
            <a:r>
              <a:rPr sz="1450" b="1">
                <a:solidFill>
                  <a:srgbClr val="2F7FD9"/>
                </a:solidFill>
                <a:latin typeface="Meiryo"/>
              </a:rPr>
              <a:t>速く安定</a:t>
            </a:r>
            <a:r>
              <a:rPr sz="1450" b="0">
                <a:solidFill>
                  <a:srgbClr val="1A2030"/>
                </a:solidFill>
                <a:latin typeface="Meiryo"/>
              </a:rPr>
              <a:t>して学習。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二乗誤差はシグモイドの平坦部で勾配がつぶれ、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自信満々で外しても直りが遅い。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5. 学習＝最適化 ― 勾配降下法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損失の坂を、勾配の逆向きに少しずつ下る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6400800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155448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8" y="1591055"/>
            <a:ext cx="2854743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88036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∇θL</a:t>
            </a:r>
            <a:r>
              <a:rPr sz="1500" b="0">
                <a:solidFill>
                  <a:srgbClr val="1A2030"/>
                </a:solidFill>
                <a:latin typeface="Meiryo"/>
              </a:rPr>
              <a:t>：各パラメータを増やすと損失がどれだけ増えるか。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その</a:t>
            </a:r>
            <a:r>
              <a:rPr sz="1500" b="1">
                <a:solidFill>
                  <a:srgbClr val="2F7FD9"/>
                </a:solidFill>
                <a:latin typeface="Meiryo"/>
              </a:rPr>
              <a:t>逆向き</a:t>
            </a:r>
            <a:r>
              <a:rPr sz="1500" b="0">
                <a:solidFill>
                  <a:srgbClr val="1A2030"/>
                </a:solidFill>
                <a:latin typeface="Meiryo"/>
              </a:rPr>
              <a:t>に進めば損失が減る。</a:t>
            </a:r>
            <a:r>
              <a:rPr sz="1500" b="1">
                <a:solidFill>
                  <a:srgbClr val="2F7FD9"/>
                </a:solidFill>
                <a:latin typeface="Meiryo"/>
              </a:rPr>
              <a:t>η</a:t>
            </a:r>
            <a:r>
              <a:rPr sz="1500" b="0">
                <a:solidFill>
                  <a:srgbClr val="1A2030"/>
                </a:solidFill>
                <a:latin typeface="Meiryo"/>
              </a:rPr>
              <a:t>（学習率）は1歩の大きさ。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アプリは毎エポック、</a:t>
            </a:r>
            <a:r>
              <a:rPr sz="1500" b="1">
                <a:solidFill>
                  <a:srgbClr val="2F7FD9"/>
                </a:solidFill>
                <a:latin typeface="Meiryo"/>
              </a:rPr>
              <a:t>全データ(フルバッチ)の平均勾配</a:t>
            </a:r>
            <a:r>
              <a:rPr sz="1500" b="0">
                <a:solidFill>
                  <a:srgbClr val="1A2030"/>
                </a:solidFill>
                <a:latin typeface="Meiryo"/>
              </a:rPr>
              <a:t>で1歩進める。</a:t>
            </a:r>
          </a:p>
        </p:txBody>
      </p:sp>
      <p:pic>
        <p:nvPicPr>
          <p:cNvPr id="11" name="Picture 10" descr="eq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147" y="4892040"/>
            <a:ext cx="1112344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097280"/>
            <a:ext cx="457200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1225295"/>
            <a:ext cx="41696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学習率 η の効き方</a:t>
            </a:r>
          </a:p>
        </p:txBody>
      </p:sp>
      <p:pic>
        <p:nvPicPr>
          <p:cNvPr id="14" name="Picture 13" descr="lr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56310"/>
            <a:ext cx="4297680" cy="25395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69480" y="4343400"/>
            <a:ext cx="4297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2F7FD9"/>
                </a:solidFill>
                <a:latin typeface="Meiryo"/>
              </a:rPr>
              <a:t>小さすぎ</a:t>
            </a:r>
            <a:r>
              <a:rPr sz="1400" b="0">
                <a:solidFill>
                  <a:srgbClr val="1A2030"/>
                </a:solidFill>
                <a:latin typeface="Meiryo"/>
              </a:rPr>
              <a:t>：なかなか進まない。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2F7FD9"/>
                </a:solidFill>
                <a:latin typeface="Meiryo"/>
              </a:rPr>
              <a:t>ちょうど良い</a:t>
            </a:r>
            <a:r>
              <a:rPr sz="1400" b="0">
                <a:solidFill>
                  <a:srgbClr val="1A2030"/>
                </a:solidFill>
                <a:latin typeface="Meiryo"/>
              </a:rPr>
              <a:t>：すっと収束。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2F7FD9"/>
                </a:solidFill>
                <a:latin typeface="Meiryo"/>
              </a:rPr>
              <a:t>大きすぎ</a:t>
            </a:r>
            <a:r>
              <a:rPr sz="1400" b="0">
                <a:solidFill>
                  <a:srgbClr val="1A2030"/>
                </a:solidFill>
                <a:latin typeface="Meiryo"/>
              </a:rPr>
              <a:t>：行き過ぎて損失が</a:t>
            </a:r>
            <a:r>
              <a:rPr sz="1400" b="1">
                <a:solidFill>
                  <a:srgbClr val="2F7FD9"/>
                </a:solidFill>
                <a:latin typeface="Meiryo"/>
              </a:rPr>
              <a:t>暴れる/発散</a:t>
            </a:r>
            <a:r>
              <a:rPr sz="1400" b="0">
                <a:solidFill>
                  <a:srgbClr val="1A2030"/>
                </a:solidFill>
                <a:latin typeface="Meiryo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6. 逆伝播 ① 出力層の誤差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連鎖律で δ を求めると p−y に約分される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11556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25295"/>
            <a:ext cx="10753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導出（BCE＋シグモイド）</a:t>
            </a:r>
          </a:p>
        </p:txBody>
      </p:sp>
      <p:pic>
        <p:nvPicPr>
          <p:cNvPr id="10" name="Picture 9" descr="e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863" y="1714500"/>
            <a:ext cx="4881792" cy="502920"/>
          </a:xfrm>
          <a:prstGeom prst="rect">
            <a:avLst/>
          </a:prstGeom>
        </p:spPr>
      </p:pic>
      <p:pic>
        <p:nvPicPr>
          <p:cNvPr id="11" name="Picture 10" descr="eq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498" y="2537460"/>
            <a:ext cx="5158522" cy="502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3657600"/>
            <a:ext cx="11155680" cy="2560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785615"/>
            <a:ext cx="10753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意味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p(1−p) が約分</a:t>
            </a:r>
            <a:r>
              <a:rPr sz="1500" b="0">
                <a:solidFill>
                  <a:srgbClr val="1A2030"/>
                </a:solidFill>
                <a:latin typeface="Meiryo"/>
              </a:rPr>
              <a:t>され、出力層の誤差は </a:t>
            </a:r>
            <a:r>
              <a:rPr sz="1500" b="1">
                <a:solidFill>
                  <a:srgbClr val="2F7FD9"/>
                </a:solidFill>
                <a:latin typeface="Meiryo"/>
              </a:rPr>
              <a:t>「予測 − 正解」</a:t>
            </a:r>
            <a:r>
              <a:rPr sz="1500" b="0">
                <a:solidFill>
                  <a:srgbClr val="1A2030"/>
                </a:solidFill>
                <a:latin typeface="Meiryo"/>
              </a:rPr>
              <a:t> という最短の形に。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δ⁽ᴹ⁾ &gt; 0</a:t>
            </a:r>
            <a:r>
              <a:rPr sz="1500" b="0">
                <a:solidFill>
                  <a:srgbClr val="1A2030"/>
                </a:solidFill>
                <a:latin typeface="Meiryo"/>
              </a:rPr>
              <a:t>（p が大きすぎ）→ p を下げる向きに重みを直す。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δ⁽ᴹ⁾ &lt; 0</a:t>
            </a:r>
            <a:r>
              <a:rPr sz="1500" b="0">
                <a:solidFill>
                  <a:srgbClr val="1A2030"/>
                </a:solidFill>
                <a:latin typeface="Meiryo"/>
              </a:rPr>
              <a:t>（p が小さすぎ）→ p を上げる向きに直す。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これが「BCE＋シグモイドは二値分類の定番」である理由。実装の `delta = out − label` はまさにこれ。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7. 逆伝播 ② 隠れ層への伝播と勾配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誤差を後ろから前へ配り直す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1155680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173736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25295"/>
            <a:ext cx="10753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1つ後ろの層から手前の層へ（連鎖律）</a:t>
            </a:r>
          </a:p>
        </p:txBody>
      </p:sp>
      <p:pic>
        <p:nvPicPr>
          <p:cNvPr id="10" name="Picture 9" descr="e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545" y="1783080"/>
            <a:ext cx="5510428" cy="548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063240"/>
            <a:ext cx="5486400" cy="3154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19125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重み・バイアスの勾配</a:t>
            </a:r>
          </a:p>
        </p:txBody>
      </p:sp>
      <p:pic>
        <p:nvPicPr>
          <p:cNvPr id="13" name="Picture 12" descr="eq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3" y="3602736"/>
            <a:ext cx="2816352" cy="566928"/>
          </a:xfrm>
          <a:prstGeom prst="rect">
            <a:avLst/>
          </a:prstGeom>
        </p:spPr>
      </p:pic>
      <p:pic>
        <p:nvPicPr>
          <p:cNvPr id="14" name="Picture 13" descr="eq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491" y="4608576"/>
            <a:ext cx="1375257" cy="5669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72200" y="3063240"/>
            <a:ext cx="5486400" cy="3154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063240"/>
            <a:ext cx="82296" cy="315468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19125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手順まとめ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① </a:t>
            </a:r>
            <a:r>
              <a:rPr sz="1500" b="1">
                <a:solidFill>
                  <a:srgbClr val="2F7FD9"/>
                </a:solidFill>
                <a:latin typeface="Meiryo"/>
              </a:rPr>
              <a:t>順伝播</a:t>
            </a:r>
            <a:r>
              <a:rPr sz="1500" b="0">
                <a:solidFill>
                  <a:srgbClr val="1A2030"/>
                </a:solidFill>
                <a:latin typeface="Meiryo"/>
              </a:rPr>
              <a:t>で z,a を保存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② 出力誤差 </a:t>
            </a:r>
            <a:r>
              <a:rPr sz="1500" b="1">
                <a:solidFill>
                  <a:srgbClr val="2F7FD9"/>
                </a:solidFill>
                <a:latin typeface="Meiryo"/>
              </a:rPr>
              <a:t>δ⁽ᴹ⁾ = p − y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③ </a:t>
            </a:r>
            <a:r>
              <a:rPr sz="1500" b="1">
                <a:solidFill>
                  <a:srgbClr val="2F7FD9"/>
                </a:solidFill>
                <a:latin typeface="Meiryo"/>
              </a:rPr>
              <a:t>逆伝播</a:t>
            </a:r>
            <a:r>
              <a:rPr sz="1500" b="0">
                <a:solidFill>
                  <a:srgbClr val="1A2030"/>
                </a:solidFill>
                <a:latin typeface="Meiryo"/>
              </a:rPr>
              <a:t>で δ⁽ˡ⁾ を順に計算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④ 各層の勾配を求める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⑤ 勾配降下で θ を1歩更新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8. 勾配消失 ― 深い網が学習しにくい理由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f′ が何度も掛かって入力側の勾配が消える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64008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11" y="1623060"/>
            <a:ext cx="400401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3957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D6B82"/>
                </a:solidFill>
                <a:latin typeface="Meiryo"/>
              </a:rPr>
              <a:t>（f′ が層の数だけ掛かる）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D6B82"/>
                </a:solidFill>
                <a:latin typeface="Meiryo"/>
              </a:rPr>
              <a:t>tanh は </a:t>
            </a:r>
            <a:r>
              <a:rPr sz="1350" b="1">
                <a:solidFill>
                  <a:srgbClr val="2F7FD9"/>
                </a:solidFill>
                <a:latin typeface="Meiryo"/>
              </a:rPr>
              <a:t>f′≤1</a:t>
            </a:r>
            <a:r>
              <a:rPr sz="1350" b="0">
                <a:solidFill>
                  <a:srgbClr val="5D6B82"/>
                </a:solidFill>
                <a:latin typeface="Meiryo"/>
              </a:rPr>
              <a:t>、sigmoid は </a:t>
            </a:r>
            <a:r>
              <a:rPr sz="1350" b="1">
                <a:solidFill>
                  <a:srgbClr val="2F7FD9"/>
                </a:solidFill>
                <a:latin typeface="Meiryo"/>
              </a:rPr>
              <a:t>f′≤0.25</a:t>
            </a:r>
            <a:r>
              <a:rPr sz="1350" b="0">
                <a:solidFill>
                  <a:srgbClr val="5D6B82"/>
                </a:solidFill>
                <a:latin typeface="Meiryo"/>
              </a:rPr>
              <a:t>。掛け続けると 0 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640080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383280"/>
            <a:ext cx="82296" cy="28346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511296"/>
            <a:ext cx="5998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943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ReLU</a:t>
            </a:r>
            <a:r>
              <a:rPr sz="1500" b="0">
                <a:solidFill>
                  <a:srgbClr val="1A2030"/>
                </a:solidFill>
                <a:latin typeface="Meiryo"/>
              </a:rPr>
              <a:t>：正の領域で f′=1（消えにくい）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良い初期化</a:t>
            </a:r>
            <a:r>
              <a:rPr sz="1500" b="0">
                <a:solidFill>
                  <a:srgbClr val="1A2030"/>
                </a:solidFill>
                <a:latin typeface="Meiryo"/>
              </a:rPr>
              <a:t>（Xavier / He、次頁）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Adam</a:t>
            </a:r>
            <a:r>
              <a:rPr sz="1500" b="0">
                <a:solidFill>
                  <a:srgbClr val="1A2030"/>
                </a:solidFill>
                <a:latin typeface="Meiryo"/>
              </a:rPr>
              <a:t> など適応的な最適化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・（発展）残差接続・正規化 など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097280"/>
            <a:ext cx="457200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1225295"/>
            <a:ext cx="41696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デモで観察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554480"/>
            <a:ext cx="42062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渦巻き</a:t>
            </a:r>
            <a:r>
              <a:rPr sz="1500" b="0">
                <a:solidFill>
                  <a:srgbClr val="1A2030"/>
                </a:solidFill>
                <a:latin typeface="Meiryo"/>
              </a:rPr>
              <a:t> で </a:t>
            </a:r>
            <a:r>
              <a:rPr sz="1500" b="1">
                <a:solidFill>
                  <a:srgbClr val="2F7FD9"/>
                </a:solidFill>
                <a:latin typeface="Meiryo"/>
              </a:rPr>
              <a:t>隠れ層=4</a:t>
            </a:r>
            <a:r>
              <a:rPr sz="1500" b="0">
                <a:solidFill>
                  <a:srgbClr val="1A2030"/>
                </a:solidFill>
                <a:latin typeface="Meiryo"/>
              </a:rPr>
              <a:t>・</a:t>
            </a:r>
            <a:r>
              <a:rPr sz="1500" b="1">
                <a:solidFill>
                  <a:srgbClr val="2F7FD9"/>
                </a:solidFill>
                <a:latin typeface="Meiryo"/>
              </a:rPr>
              <a:t>sigmoid</a:t>
            </a:r>
            <a:r>
              <a:rPr sz="1500" b="0">
                <a:solidFill>
                  <a:srgbClr val="1A2030"/>
                </a:solidFill>
                <a:latin typeface="Meiryo"/>
              </a:rPr>
              <a:t> に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すると学習が停滞しやすい。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tanh / ReLU / Adam</a:t>
            </a:r>
            <a:r>
              <a:rPr sz="1500" b="0">
                <a:solidFill>
                  <a:srgbClr val="1A2030"/>
                </a:solidFill>
                <a:latin typeface="Meiryo"/>
              </a:rPr>
              <a:t> に変えると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改善することがある。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R</a:t>
            </a:r>
            <a:r>
              <a:rPr sz="1500" b="0">
                <a:solidFill>
                  <a:srgbClr val="1A2030"/>
                </a:solidFill>
                <a:latin typeface="Meiryo"/>
              </a:rPr>
              <a:t> キーで初期値を変えて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再挑戦できる（初期化の効果）。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9. 最適化手法 ― SGD / モメンタム / 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勾配を得たあと、どう1歩進めるか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675887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5D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25295"/>
            <a:ext cx="3273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SGD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097280"/>
            <a:ext cx="3675887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0972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1225295"/>
            <a:ext cx="3273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モメンタム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97280"/>
            <a:ext cx="3675887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0972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25295"/>
            <a:ext cx="3273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Adam</a:t>
            </a:r>
          </a:p>
        </p:txBody>
      </p:sp>
      <p:pic>
        <p:nvPicPr>
          <p:cNvPr id="16" name="Picture 15" descr="e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21" y="2139696"/>
            <a:ext cx="1503084" cy="384048"/>
          </a:xfrm>
          <a:prstGeom prst="rect">
            <a:avLst/>
          </a:prstGeom>
        </p:spPr>
      </p:pic>
      <p:pic>
        <p:nvPicPr>
          <p:cNvPr id="17" name="Picture 16" descr="eq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728" y="2176272"/>
            <a:ext cx="2407790" cy="310896"/>
          </a:xfrm>
          <a:prstGeom prst="rect">
            <a:avLst/>
          </a:prstGeom>
        </p:spPr>
      </p:pic>
      <p:pic>
        <p:nvPicPr>
          <p:cNvPr id="18" name="Picture 17" descr="eq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9209" y="2057400"/>
            <a:ext cx="1202348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2880360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素直・遅い。谷でジグザグ。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880360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慣性で加速(μ=0.9)。振動が減る。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724912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重みごとに歩幅を自動調整。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速く安定・難データに強い。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548640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82296" cy="26060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73989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Adam の中身</a:t>
            </a:r>
          </a:p>
        </p:txBody>
      </p:sp>
      <p:pic>
        <p:nvPicPr>
          <p:cNvPr id="25" name="Picture 24" descr="eq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760" y="4050791"/>
            <a:ext cx="3884719" cy="310896"/>
          </a:xfrm>
          <a:prstGeom prst="rect">
            <a:avLst/>
          </a:prstGeom>
        </p:spPr>
      </p:pic>
      <p:pic>
        <p:nvPicPr>
          <p:cNvPr id="26" name="Picture 25" descr="eq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3870" y="4686300"/>
            <a:ext cx="1924499" cy="411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54406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√ŝ で割る＝勾配のスケールに鈍感。</a:t>
            </a:r>
            <a:r>
              <a:rPr sz="1250" b="1">
                <a:solidFill>
                  <a:srgbClr val="2F7FD9"/>
                </a:solidFill>
                <a:latin typeface="Meiryo"/>
              </a:rPr>
              <a:t>アプリは Adam の実効 η を ×0.1</a:t>
            </a:r>
            <a:r>
              <a:rPr sz="1250" b="0">
                <a:solidFill>
                  <a:srgbClr val="5D6B82"/>
                </a:solidFill>
                <a:latin typeface="Meiryo"/>
              </a:rPr>
              <a:t>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611880"/>
            <a:ext cx="548640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73989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収束比較（渦巻き・2-8-8-1）</a:t>
            </a:r>
          </a:p>
        </p:txBody>
      </p:sp>
      <p:pic>
        <p:nvPicPr>
          <p:cNvPr id="30" name="Picture 29" descr="opt_l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523" y="4069080"/>
            <a:ext cx="3481753" cy="2057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10. 重みの初期化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大きさ(分散)の設計が学習の成否を分ける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11155680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82296" cy="173736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26" y="1783080"/>
            <a:ext cx="7395667" cy="548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3200400"/>
            <a:ext cx="1115568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328416"/>
            <a:ext cx="10753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なぜスケールが大事か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10424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 b="0">
                <a:solidFill>
                  <a:srgbClr val="1A2030"/>
                </a:solidFill>
                <a:latin typeface="Meiryo"/>
              </a:rPr>
              <a:t>・</a:t>
            </a:r>
            <a:r>
              <a:rPr sz="1550" b="1">
                <a:solidFill>
                  <a:srgbClr val="2F7FD9"/>
                </a:solidFill>
                <a:latin typeface="Meiryo"/>
              </a:rPr>
              <a:t>大きすぎ</a:t>
            </a:r>
            <a:r>
              <a:rPr sz="1550" b="0">
                <a:solidFill>
                  <a:srgbClr val="1A2030"/>
                </a:solidFill>
                <a:latin typeface="Meiryo"/>
              </a:rPr>
              <a:t>：活性が飽和（tanh が ±1 に張り付き）→ f′≈0 で勾配消失。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1A2030"/>
                </a:solidFill>
                <a:latin typeface="Meiryo"/>
              </a:rPr>
              <a:t>・</a:t>
            </a:r>
            <a:r>
              <a:rPr sz="1550" b="1">
                <a:solidFill>
                  <a:srgbClr val="2F7FD9"/>
                </a:solidFill>
                <a:latin typeface="Meiryo"/>
              </a:rPr>
              <a:t>小さすぎ</a:t>
            </a:r>
            <a:r>
              <a:rPr sz="1550" b="0">
                <a:solidFill>
                  <a:srgbClr val="1A2030"/>
                </a:solidFill>
                <a:latin typeface="Meiryo"/>
              </a:rPr>
              <a:t>：信号がどんどん縮む → やはり勾配が消える。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1A2030"/>
                </a:solidFill>
                <a:latin typeface="Meiryo"/>
              </a:rPr>
              <a:t>・入力数 </a:t>
            </a:r>
            <a:r>
              <a:rPr sz="1550" b="1">
                <a:solidFill>
                  <a:srgbClr val="2F7FD9"/>
                </a:solidFill>
                <a:latin typeface="Meiryo"/>
              </a:rPr>
              <a:t>n_in</a:t>
            </a:r>
            <a:r>
              <a:rPr sz="1550" b="0">
                <a:solidFill>
                  <a:srgbClr val="1A2030"/>
                </a:solidFill>
                <a:latin typeface="Meiryo"/>
              </a:rPr>
              <a:t>（ファンイン）に応じて分散を決め、層をまたいで信号の大きさを保つ。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1A2030"/>
                </a:solidFill>
                <a:latin typeface="Meiryo"/>
              </a:rPr>
              <a:t>・ReLU は負side を捨てて分散が半減するため </a:t>
            </a:r>
            <a:r>
              <a:rPr sz="1550" b="1">
                <a:solidFill>
                  <a:srgbClr val="2F7FD9"/>
                </a:solidFill>
                <a:latin typeface="Meiryo"/>
              </a:rPr>
              <a:t>√2 倍</a:t>
            </a:r>
            <a:r>
              <a:rPr sz="1550" b="0">
                <a:solidFill>
                  <a:srgbClr val="1A2030"/>
                </a:solidFill>
                <a:latin typeface="Meiryo"/>
              </a:rPr>
              <a:t> で補う（He 初期化）。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1A2030"/>
                </a:solidFill>
                <a:latin typeface="Meiryo"/>
              </a:rPr>
              <a:t>  アプリは活性化に応じてこの初期化を自動選択。</a:t>
            </a:r>
            <a:r>
              <a:rPr sz="1550" b="1">
                <a:solidFill>
                  <a:srgbClr val="2F7FD9"/>
                </a:solidFill>
                <a:latin typeface="Meiryo"/>
              </a:rPr>
              <a:t>R</a:t>
            </a:r>
            <a:r>
              <a:rPr sz="1550" b="0">
                <a:solidFill>
                  <a:srgbClr val="1A2030"/>
                </a:solidFill>
                <a:latin typeface="Meiryo"/>
              </a:rPr>
              <a:t> キーで初期値だけ変えて再学習できる。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11. デモ：境界が「学習」で立ち上がる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渦巻き・2隠れ層・Adam のスナップショット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65176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2030"/>
                </a:solidFill>
                <a:latin typeface="Meiryo"/>
              </a:rPr>
              <a:t>初期（ランダム）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43000"/>
            <a:ext cx="265176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g_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377440" cy="2377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37560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2030"/>
                </a:solidFill>
                <a:latin typeface="Meiryo"/>
              </a:rPr>
              <a:t>学習中（60ep）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143000"/>
            <a:ext cx="265176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g_8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71600"/>
            <a:ext cx="237744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79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2030"/>
                </a:solidFill>
                <a:latin typeface="Meiryo"/>
              </a:rPr>
              <a:t>学習後（最終）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143000"/>
            <a:ext cx="260604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1271016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損失の推移</a:t>
            </a:r>
          </a:p>
        </p:txBody>
      </p:sp>
      <p:pic>
        <p:nvPicPr>
          <p:cNvPr id="18" name="Picture 17" descr="prog_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118706"/>
            <a:ext cx="2423160" cy="143186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8640" y="4617720"/>
            <a:ext cx="112014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61772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745736"/>
            <a:ext cx="10799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1">
                <a:solidFill>
                  <a:srgbClr val="2F7FD9"/>
                </a:solidFill>
                <a:latin typeface="Meiryo"/>
              </a:rPr>
              <a:t>▶ 再生</a:t>
            </a:r>
            <a:r>
              <a:rPr sz="1450" b="0">
                <a:solidFill>
                  <a:srgbClr val="1A2030"/>
                </a:solidFill>
                <a:latin typeface="Meiryo"/>
              </a:rPr>
              <a:t>でエポックを進め、</a:t>
            </a:r>
            <a:r>
              <a:rPr sz="1450" b="1">
                <a:solidFill>
                  <a:srgbClr val="2F7FD9"/>
                </a:solidFill>
                <a:latin typeface="Meiryo"/>
              </a:rPr>
              <a:t>◀/▶</a:t>
            </a:r>
            <a:r>
              <a:rPr sz="1450" b="0">
                <a:solidFill>
                  <a:srgbClr val="1A2030"/>
                </a:solidFill>
                <a:latin typeface="Meiryo"/>
              </a:rPr>
              <a:t>や</a:t>
            </a:r>
            <a:r>
              <a:rPr sz="1450" b="1">
                <a:solidFill>
                  <a:srgbClr val="2F7FD9"/>
                </a:solidFill>
                <a:latin typeface="Meiryo"/>
              </a:rPr>
              <a:t>シークバー</a:t>
            </a:r>
            <a:r>
              <a:rPr sz="1450" b="0">
                <a:solidFill>
                  <a:srgbClr val="1A2030"/>
                </a:solidFill>
                <a:latin typeface="Meiryo"/>
              </a:rPr>
              <a:t>で前後に移動。</a:t>
            </a:r>
            <a:r>
              <a:rPr sz="1450" b="1">
                <a:solidFill>
                  <a:srgbClr val="2F7FD9"/>
                </a:solidFill>
                <a:latin typeface="Meiryo"/>
              </a:rPr>
              <a:t>← →</a:t>
            </a:r>
            <a:r>
              <a:rPr sz="1450" b="0">
                <a:solidFill>
                  <a:srgbClr val="1A2030"/>
                </a:solidFill>
                <a:latin typeface="Meiryo"/>
              </a:rPr>
              <a:t> で1コマ、</a:t>
            </a:r>
            <a:r>
              <a:rPr sz="1450" b="1">
                <a:solidFill>
                  <a:srgbClr val="2F7FD9"/>
                </a:solidFill>
                <a:latin typeface="Meiryo"/>
              </a:rPr>
              <a:t>Space</a:t>
            </a:r>
            <a:r>
              <a:rPr sz="1450" b="0">
                <a:solidFill>
                  <a:srgbClr val="1A2030"/>
                </a:solidFill>
                <a:latin typeface="Meiryo"/>
              </a:rPr>
              <a:t> 再生、</a:t>
            </a:r>
            <a:r>
              <a:rPr sz="1450" b="1">
                <a:solidFill>
                  <a:srgbClr val="2F7FD9"/>
                </a:solidFill>
                <a:latin typeface="Meiryo"/>
              </a:rPr>
              <a:t>R</a:t>
            </a:r>
            <a:r>
              <a:rPr sz="1450" b="0">
                <a:solidFill>
                  <a:srgbClr val="1A2030"/>
                </a:solidFill>
                <a:latin typeface="Meiryo"/>
              </a:rPr>
              <a:t> 初期値replay。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でたらめな境界が、逆伝播による重み更新の繰り返しで、データの模様に沿って立ち上がる様子を観察できる。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12. デモ：活性化の個性と『深さ』の効果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同じデータでも設定で境界が変わる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48640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25295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活性化：サイン波の境界</a:t>
            </a:r>
          </a:p>
        </p:txBody>
      </p:sp>
      <p:pic>
        <p:nvPicPr>
          <p:cNvPr id="9" name="Picture 8" descr="sine_t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2286000" cy="2286000"/>
          </a:xfrm>
          <a:prstGeom prst="rect">
            <a:avLst/>
          </a:prstGeom>
        </p:spPr>
      </p:pic>
      <p:pic>
        <p:nvPicPr>
          <p:cNvPr id="10" name="Picture 9" descr="sine_r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00200"/>
            <a:ext cx="22860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02336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tanh</a:t>
            </a:r>
            <a:r>
              <a:rPr sz="1500" b="0">
                <a:solidFill>
                  <a:srgbClr val="1A2030"/>
                </a:solidFill>
                <a:latin typeface="Meiryo"/>
              </a:rPr>
              <a:t> はなめらかな曲線、</a:t>
            </a:r>
            <a:r>
              <a:rPr sz="1500" b="1">
                <a:solidFill>
                  <a:srgbClr val="2F7FD9"/>
                </a:solidFill>
                <a:latin typeface="Meiryo"/>
              </a:rPr>
              <a:t>ReLU</a:t>
            </a:r>
            <a:r>
              <a:rPr sz="1500" b="0">
                <a:solidFill>
                  <a:srgbClr val="1A2030"/>
                </a:solidFill>
                <a:latin typeface="Meiryo"/>
              </a:rPr>
              <a:t> は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区分線形ゆえ境界が</a:t>
            </a:r>
            <a:r>
              <a:rPr sz="1500" b="1">
                <a:solidFill>
                  <a:srgbClr val="2F7FD9"/>
                </a:solidFill>
                <a:latin typeface="Meiryo"/>
              </a:rPr>
              <a:t>折れ線</a:t>
            </a:r>
            <a:r>
              <a:rPr sz="1500" b="0">
                <a:solidFill>
                  <a:srgbClr val="1A2030"/>
                </a:solidFill>
                <a:latin typeface="Meiryo"/>
              </a:rPr>
              <a:t>になる。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デモの活性化を切り替えて見比べよう。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97280"/>
            <a:ext cx="548640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225295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深さ：渦巻き（1層 vs 3層）</a:t>
            </a:r>
          </a:p>
        </p:txBody>
      </p:sp>
      <p:pic>
        <p:nvPicPr>
          <p:cNvPr id="14" name="Picture 13" descr="dept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00200"/>
            <a:ext cx="2286000" cy="2286000"/>
          </a:xfrm>
          <a:prstGeom prst="rect">
            <a:avLst/>
          </a:prstGeom>
        </p:spPr>
      </p:pic>
      <p:pic>
        <p:nvPicPr>
          <p:cNvPr id="15" name="Picture 14" descr="depth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600200"/>
            <a:ext cx="228600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402336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1層</a:t>
            </a:r>
            <a:r>
              <a:rPr sz="1500" b="0">
                <a:solidFill>
                  <a:srgbClr val="1A2030"/>
                </a:solidFill>
                <a:latin typeface="Meiryo"/>
              </a:rPr>
              <a:t>では渦を追い切れないが、</a:t>
            </a:r>
            <a:r>
              <a:rPr sz="1500" b="1">
                <a:solidFill>
                  <a:srgbClr val="2F7FD9"/>
                </a:solidFill>
                <a:latin typeface="Meiryo"/>
              </a:rPr>
              <a:t>層を重ねる</a:t>
            </a:r>
            <a:r>
              <a:rPr sz="1500" b="0">
                <a:solidFill>
                  <a:srgbClr val="1A2030"/>
                </a:solidFill>
                <a:latin typeface="Meiryo"/>
              </a:rPr>
              <a:t>と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前の層の特徴を組み合わせ、複雑な境界を描ける。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ただし深いほど学習は難しくなる（勾配消失）。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13. まとめ表：データ難易度と収束（実測）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本教材で実際に学習させた結果（tanh, 2-8-8-1）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651760" cy="749808"/>
          </a:xfrm>
          <a:prstGeom prst="roundRect">
            <a:avLst>
              <a:gd name="adj" fmla="val 4000"/>
            </a:avLst>
          </a:prstGeom>
          <a:solidFill>
            <a:srgbClr val="2F7FD9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188720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eiryo"/>
              </a:rPr>
              <a:t>データ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1188720"/>
            <a:ext cx="1828800" cy="749808"/>
          </a:xfrm>
          <a:prstGeom prst="roundRect">
            <a:avLst>
              <a:gd name="adj" fmla="val 4000"/>
            </a:avLst>
          </a:prstGeom>
          <a:solidFill>
            <a:srgbClr val="2F7FD9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188720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eiryo"/>
              </a:rPr>
              <a:t>直線で可?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188720"/>
            <a:ext cx="2377440" cy="749808"/>
          </a:xfrm>
          <a:prstGeom prst="roundRect">
            <a:avLst>
              <a:gd name="adj" fmla="val 4000"/>
            </a:avLst>
          </a:prstGeom>
          <a:solidFill>
            <a:srgbClr val="2F7FD9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5" y="1188720"/>
            <a:ext cx="21214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eiryo"/>
              </a:rPr>
              <a:t>1層で解ける?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188720"/>
            <a:ext cx="4023360" cy="749808"/>
          </a:xfrm>
          <a:prstGeom prst="roundRect">
            <a:avLst>
              <a:gd name="adj" fmla="val 4000"/>
            </a:avLst>
          </a:prstGeom>
          <a:solidFill>
            <a:srgbClr val="2F7FD9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1188720"/>
            <a:ext cx="37673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Meiryo"/>
              </a:rPr>
              <a:t>深さ/Adamの効果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38528"/>
            <a:ext cx="26517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938528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2つの塊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39" y="1938528"/>
            <a:ext cx="1828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938528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938528"/>
            <a:ext cx="237744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5" y="1938528"/>
            <a:ext cx="21214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938528"/>
            <a:ext cx="40233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1938528"/>
            <a:ext cx="37673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不要（線形分離）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688336"/>
            <a:ext cx="265176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688336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まる / サイン波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39" y="2688336"/>
            <a:ext cx="182880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2688336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2688336"/>
            <a:ext cx="237744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8655" y="2688336"/>
            <a:ext cx="21214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○（曲線1本）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2688336"/>
            <a:ext cx="402336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2688336"/>
            <a:ext cx="37673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少ない幅でOK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438144"/>
            <a:ext cx="26517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438144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市松(XOR)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39" y="3438144"/>
            <a:ext cx="1828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3438144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3438144"/>
            <a:ext cx="237744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8655" y="3438144"/>
            <a:ext cx="21214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3438144"/>
            <a:ext cx="40233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3438144"/>
            <a:ext cx="37673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隠れ層が必須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187952"/>
            <a:ext cx="265176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187952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チェッカー / 三重丸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39" y="4187952"/>
            <a:ext cx="182880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9856" y="4187952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4187952"/>
            <a:ext cx="237744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48655" y="4187952"/>
            <a:ext cx="21214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4187952"/>
            <a:ext cx="4023360" cy="749808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26096" y="4187952"/>
            <a:ext cx="37673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幅・深さで表現力↑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937759"/>
            <a:ext cx="26517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4937759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渦巻き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39" y="4937759"/>
            <a:ext cx="1828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19856" y="4937759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0640" y="4937759"/>
            <a:ext cx="237744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48655" y="4937759"/>
            <a:ext cx="21214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79" y="4937759"/>
            <a:ext cx="40233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6096" y="4937759"/>
            <a:ext cx="37673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深さ＋Adamで解ける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D6B82"/>
                </a:solidFill>
                <a:latin typeface="Meiryo"/>
              </a:rPr>
              <a:t>○=容易 / △=不安定・工夫要 / ×=不可。</a:t>
            </a:r>
            <a:r>
              <a:rPr sz="1350" b="1">
                <a:solidFill>
                  <a:srgbClr val="2F7FD9"/>
                </a:solidFill>
                <a:latin typeface="Meiryo"/>
              </a:rPr>
              <a:t>渦巻き</a:t>
            </a:r>
            <a:r>
              <a:rPr sz="1350" b="0">
                <a:solidFill>
                  <a:srgbClr val="5D6B82"/>
                </a:solidFill>
                <a:latin typeface="Meiryo"/>
              </a:rPr>
              <a:t>は SGD・モメンタムでは頭打ち、</a:t>
            </a:r>
            <a:r>
              <a:rPr sz="1350" b="1">
                <a:solidFill>
                  <a:srgbClr val="2F7FD9"/>
                </a:solidFill>
                <a:latin typeface="Meiryo"/>
              </a:rPr>
              <a:t>Adam</a:t>
            </a:r>
            <a:r>
              <a:rPr sz="1350" b="0">
                <a:solidFill>
                  <a:srgbClr val="5D6B82"/>
                </a:solidFill>
                <a:latin typeface="Meiryo"/>
              </a:rPr>
              <a:t> でほぼ解ける。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2004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030"/>
                </a:solidFill>
                <a:latin typeface="Meiryo"/>
              </a:rPr>
              <a:t>14. まとめ &amp; 演習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6692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一枚チートシートと、手を動かす課題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28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5D6B82"/>
                </a:solidFill>
                <a:latin typeface="Consola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658368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82296" cy="5120640"/>
          </a:xfrm>
          <a:prstGeom prst="roundRect">
            <a:avLst>
              <a:gd name="adj" fmla="val 50000"/>
            </a:avLst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25295"/>
            <a:ext cx="6181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ワンページ・チートシート</a:t>
            </a:r>
          </a:p>
        </p:txBody>
      </p:sp>
      <p:pic>
        <p:nvPicPr>
          <p:cNvPr id="10" name="Picture 9" descr="e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567" y="1719072"/>
            <a:ext cx="4192385" cy="310896"/>
          </a:xfrm>
          <a:prstGeom prst="rect">
            <a:avLst/>
          </a:prstGeom>
        </p:spPr>
      </p:pic>
      <p:pic>
        <p:nvPicPr>
          <p:cNvPr id="11" name="Picture 10" descr="eq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183" y="2359152"/>
            <a:ext cx="2137152" cy="310896"/>
          </a:xfrm>
          <a:prstGeom prst="rect">
            <a:avLst/>
          </a:prstGeom>
        </p:spPr>
      </p:pic>
      <p:pic>
        <p:nvPicPr>
          <p:cNvPr id="12" name="Picture 11" descr="eq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462" y="2999232"/>
            <a:ext cx="3928594" cy="310896"/>
          </a:xfrm>
          <a:prstGeom prst="rect">
            <a:avLst/>
          </a:prstGeom>
        </p:spPr>
      </p:pic>
      <p:pic>
        <p:nvPicPr>
          <p:cNvPr id="13" name="Picture 12" descr="eq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301" y="3657600"/>
            <a:ext cx="2578917" cy="365760"/>
          </a:xfrm>
          <a:prstGeom prst="rect">
            <a:avLst/>
          </a:prstGeom>
        </p:spPr>
      </p:pic>
      <p:pic>
        <p:nvPicPr>
          <p:cNvPr id="14" name="Picture 13" descr="eq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792" y="4416552"/>
            <a:ext cx="3477935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029200"/>
            <a:ext cx="6126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順伝播→損失→</a:t>
            </a:r>
            <a:r>
              <a:rPr sz="1400" b="1">
                <a:solidFill>
                  <a:srgbClr val="2F7FD9"/>
                </a:solidFill>
                <a:latin typeface="Meiryo"/>
              </a:rPr>
              <a:t>逆伝播</a:t>
            </a:r>
            <a:r>
              <a:rPr sz="1400" b="0">
                <a:solidFill>
                  <a:srgbClr val="5D6B82"/>
                </a:solidFill>
                <a:latin typeface="Meiryo"/>
              </a:rPr>
              <a:t>→更新。この1周を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何百回も回すのが「学習」。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097280"/>
            <a:ext cx="448056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1097280"/>
            <a:ext cx="82296" cy="51206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8" y="1225295"/>
            <a:ext cx="4078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演習（nw2.md に略解）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600200"/>
            <a:ext cx="41148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7FD9"/>
                </a:solidFill>
                <a:latin typeface="Meiryo"/>
              </a:rPr>
              <a:t>A. 数式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・最小ネットで順伝播/逆伝播/1更新を手計算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・σ′=σ(1−σ) の導出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・XOR が直線分離不可の証明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7FD9"/>
                </a:solidFill>
                <a:latin typeface="Meiryo"/>
              </a:rPr>
              <a:t>B. デモ実験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・まるを解く最小ニューロン数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・深さ vs 幅（渦巻き）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・最適化レース（SGD/Mom/Adam）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・学習率の崖／勾配消失の観察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7FD9"/>
                </a:solidFill>
                <a:latin typeface="Meiryo"/>
              </a:rPr>
              <a:t>C. 発展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・BCE と二乗誤差の勾配比較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・Adam のスケール不変性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5D6B82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