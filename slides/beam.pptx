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6766560" y="2514600"/>
            <a:ext cx="1211580" cy="96012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766560" y="3474720"/>
            <a:ext cx="1211580" cy="96012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7978140" y="2034540"/>
            <a:ext cx="1211580" cy="48006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978140" y="2514600"/>
            <a:ext cx="1211580" cy="48006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978140" y="3954780"/>
            <a:ext cx="1211580" cy="48006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78140" y="4434840"/>
            <a:ext cx="1211580" cy="48006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89720" y="2034540"/>
            <a:ext cx="1211580" cy="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89720" y="2034540"/>
            <a:ext cx="1211580" cy="96012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89720" y="3954780"/>
            <a:ext cx="1211580" cy="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89720" y="3954780"/>
            <a:ext cx="1211580" cy="96012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401300" y="2514600"/>
            <a:ext cx="1211580" cy="144018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401300" y="2034540"/>
            <a:ext cx="1211580" cy="240030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77940" y="3291840"/>
            <a:ext cx="777240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331720"/>
            <a:ext cx="777240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67919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55%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4251960"/>
            <a:ext cx="777240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59943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45%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1100" y="1851660"/>
            <a:ext cx="777240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1100" y="219913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01100" y="2811780"/>
            <a:ext cx="777240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1100" y="315925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1100" y="3771900"/>
            <a:ext cx="777240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1100" y="411937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1100" y="4732020"/>
            <a:ext cx="777240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1100" y="507949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12680" y="1851660"/>
            <a:ext cx="777240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寝る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219913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25%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2811780"/>
            <a:ext cx="777240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鳴く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15925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25%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3771900"/>
            <a:ext cx="777240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走る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411937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38%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4732020"/>
            <a:ext cx="777240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吠える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507949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2%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224260" y="2331720"/>
            <a:ext cx="777240" cy="365760"/>
          </a:xfrm>
          <a:prstGeom prst="roundRect">
            <a:avLst/>
          </a:prstGeom>
          <a:solidFill>
            <a:srgbClr val="4ADE80"/>
          </a:solidFill>
          <a:ln w="254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24260" y="267919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38%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24260" y="4251960"/>
            <a:ext cx="777240" cy="365760"/>
          </a:xfrm>
          <a:prstGeom prst="roundRect">
            <a:avLst/>
          </a:prstGeom>
          <a:solidFill>
            <a:srgbClr val="2F7FD9"/>
          </a:solidFill>
          <a:ln w="254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24260" y="4599432"/>
            <a:ext cx="7772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1828800"/>
            <a:ext cx="5852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>
                <a:solidFill>
                  <a:srgbClr val="1A2030"/>
                </a:solidFill>
                <a:latin typeface="Meiryo"/>
              </a:rPr>
              <a:t>ビームサーチ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83464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2F7FD9"/>
                </a:solidFill>
                <a:latin typeface="Meiryo"/>
              </a:rPr>
              <a:t>LLM が文章を生成する仕組み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56616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D6B82"/>
                </a:solidFill>
                <a:latin typeface="Meiryo"/>
              </a:rPr>
              <a:t>確率の高い候補だけ残して、続きを探す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Consolas"/>
              </a:rPr>
              <a:t>対応ビジュアライザ:  html/beam.html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LLM は文章を1語ずつ作る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次の単語を「確率」で予想して、つないでいく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760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次の単語は確率で決まる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5303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「犬 は」の次に来る単語を、モデルは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確率で予想する：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走る 95% ／ 吠える 5%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全部試すと爆発する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600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語彙が1万語あれば、3語先まで全部試すと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1万 × 1万 × 1万 = 1兆通り。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すべては調べられない</a:t>
            </a:r>
            <a:r>
              <a:rPr sz="1500" b="0">
                <a:solidFill>
                  <a:srgbClr val="1A2030"/>
                </a:solidFill>
                <a:latin typeface="Meiryo"/>
              </a:rPr>
              <a:t> → 賢く絞る必要がある。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029200"/>
            <a:ext cx="5303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文の良さ＝</a:t>
            </a:r>
            <a:r>
              <a:rPr sz="1400" b="1">
                <a:solidFill>
                  <a:srgbClr val="2F7FD9"/>
                </a:solidFill>
                <a:latin typeface="Meiryo"/>
              </a:rPr>
              <a:t>各単語の確率の掛け算（累積確率）</a:t>
            </a:r>
            <a:r>
              <a:rPr sz="1400" b="0">
                <a:solidFill>
                  <a:srgbClr val="5D6B82"/>
                </a:solidFill>
                <a:latin typeface="Meiryo"/>
              </a:rPr>
              <a:t>。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これが大きい文ほど「もっともらしい」。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137160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5087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A2030"/>
                </a:solidFill>
                <a:latin typeface="Meiryo"/>
              </a:rPr>
              <a:t>「犬 は ___」次の単語の確率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19456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走る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221992"/>
            <a:ext cx="3127248" cy="310896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28247" y="21945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83464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吠える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862072"/>
            <a:ext cx="164592" cy="310896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1" y="2834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657600"/>
            <a:ext cx="4754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毎ステップこの予想を出し、単語を選んで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つなげていく。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「どれを選び、どれを残すか」の戦略が</a:t>
            </a:r>
          </a:p>
          <a:p>
            <a:pPr algn="l">
              <a:lnSpc>
                <a:spcPct val="14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ビームサーチ</a:t>
            </a:r>
            <a:r>
              <a:rPr sz="1500" b="0">
                <a:solidFill>
                  <a:srgbClr val="1A2030"/>
                </a:solidFill>
                <a:latin typeface="Meiryo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ビームサーチの手順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毎ステップ、上位 k 本（ビーム幅）だけ残して進む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5669280" cy="713232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D24A"/>
                </a:solidFill>
                <a:latin typeface="Meiryo"/>
              </a:rPr>
              <a:t>① 展開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36192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030"/>
                </a:solidFill>
                <a:latin typeface="Meiryo"/>
              </a:rPr>
              <a:t>今残っている各文から、次の単語の候補をすべて作る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58568"/>
            <a:ext cx="5669280" cy="713232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② 採点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77440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030"/>
                </a:solidFill>
                <a:latin typeface="Meiryo"/>
              </a:rPr>
              <a:t>それぞれの累積確率（確率の掛け算）を計算する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99816"/>
            <a:ext cx="5669280" cy="713232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91256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F7FD9"/>
                </a:solidFill>
                <a:latin typeface="Meiryo"/>
              </a:rPr>
              <a:t>③ 選択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218688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030"/>
                </a:solidFill>
                <a:latin typeface="Meiryo"/>
              </a:rPr>
              <a:t>上位 k 本だけ残し、残りは捨てる（枝刈り）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41064"/>
            <a:ext cx="5669280" cy="713232"/>
          </a:xfrm>
          <a:prstGeom prst="round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32504"/>
            <a:ext cx="1371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4ADE80"/>
                </a:solidFill>
                <a:latin typeface="Meiryo"/>
              </a:rPr>
              <a:t>④ 繰り返し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59936"/>
            <a:ext cx="3931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A2030"/>
                </a:solidFill>
                <a:latin typeface="Meiryo"/>
              </a:rPr>
              <a:t>文末「。」になるまで①〜③を繰り返す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417320"/>
            <a:ext cx="53035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D6B82"/>
                </a:solidFill>
                <a:latin typeface="Meiryo"/>
              </a:rPr>
              <a:t>k=2 で広がる探索木（緑=最良の文）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812280" y="2903220"/>
            <a:ext cx="1143000" cy="89154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12280" y="3794760"/>
            <a:ext cx="1143000" cy="89154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955280" y="2457450"/>
            <a:ext cx="1143000" cy="44577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55280" y="2903220"/>
            <a:ext cx="1143000" cy="44577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955280" y="4240530"/>
            <a:ext cx="1143000" cy="44577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955280" y="4686300"/>
            <a:ext cx="1143000" cy="44577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098280" y="2457450"/>
            <a:ext cx="1143000" cy="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098280" y="2457450"/>
            <a:ext cx="1143000" cy="89154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098280" y="4240530"/>
            <a:ext cx="1143000" cy="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098280" y="4240530"/>
            <a:ext cx="1143000" cy="89154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241280" y="2903220"/>
            <a:ext cx="1143000" cy="133731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41280" y="2457450"/>
            <a:ext cx="1143000" cy="222885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37376" y="361188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0376" y="2720340"/>
            <a:ext cx="749808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0376" y="306781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55%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0376" y="450342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6" y="485089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45%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23376" y="2274570"/>
            <a:ext cx="749808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23376" y="262204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50%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23376" y="316611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23376" y="351358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6%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23376" y="405765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3376" y="440512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40%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23376" y="494919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23376" y="529666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66376" y="2274570"/>
            <a:ext cx="749808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寝る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6376" y="262204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25%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66376" y="316611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鳴く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66376" y="351358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25%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66376" y="405765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走る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66376" y="440512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38%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66376" y="494919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吠える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66376" y="529666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2%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09376" y="2720340"/>
            <a:ext cx="749808" cy="365760"/>
          </a:xfrm>
          <a:prstGeom prst="roundRect">
            <a:avLst/>
          </a:prstGeom>
          <a:solidFill>
            <a:srgbClr val="4ADE80"/>
          </a:solidFill>
          <a:ln w="254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09376" y="306781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38%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009376" y="4503420"/>
            <a:ext cx="749808" cy="365760"/>
          </a:xfrm>
          <a:prstGeom prst="roundRect">
            <a:avLst/>
          </a:prstGeom>
          <a:solidFill>
            <a:srgbClr val="2F7FD9"/>
          </a:solidFill>
          <a:ln w="254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9376" y="485089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25%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02920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D6B82"/>
                </a:solidFill>
                <a:latin typeface="Meiryo"/>
              </a:rPr>
              <a:t>青 = 残したビーム、灰 = 枝刈り、緑 = 最終的に選ばれた文。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5D6B82"/>
                </a:solidFill>
                <a:latin typeface="Meiryo"/>
              </a:rPr>
              <a:t>ビーム幅 k を大きくすると探索は広く・丁寧になるが、計算は重くなる。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貪欲法（k=1）の落とし穴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毎回1位を選ぶと、全体ではもっともらしくない文になることがある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778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6B6B"/>
                </a:solidFill>
                <a:latin typeface="Meiryo"/>
              </a:rPr>
              <a:t>貪欲法 k=1（毎回1位だけ）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85800" y="2720340"/>
            <a:ext cx="1257300" cy="75438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" y="3474720"/>
            <a:ext cx="1257300" cy="75438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43100" y="2720340"/>
            <a:ext cx="1257300" cy="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43100" y="2720340"/>
            <a:ext cx="1257300" cy="150876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0" y="2720340"/>
            <a:ext cx="1257300" cy="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200400" y="2720340"/>
            <a:ext cx="1257300" cy="150876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57700" y="2720340"/>
            <a:ext cx="1257300" cy="75438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0896" y="329184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68196" y="253746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8196" y="288493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55%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68196" y="404622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8196" y="439369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45%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25496" y="253746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5496" y="288493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50%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25496" y="404622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25496" y="439369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82796" y="253746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寝る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2796" y="288493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25%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82796" y="404622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鳴く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2796" y="439369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25%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40096" y="3291840"/>
            <a:ext cx="749808" cy="365760"/>
          </a:xfrm>
          <a:prstGeom prst="roundRect">
            <a:avLst/>
          </a:prstGeom>
          <a:solidFill>
            <a:srgbClr val="4ADE80"/>
          </a:solidFill>
          <a:ln w="254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096" y="363931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6B6B"/>
                </a:solidFill>
                <a:latin typeface="Meiryo"/>
              </a:rPr>
              <a:t>結果：「猫は寝る。」 累積 24.8%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371600"/>
            <a:ext cx="557784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4813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F7FD9"/>
                </a:solidFill>
                <a:latin typeface="Meiryo"/>
              </a:rPr>
              <a:t>ビーム k=2（上位2本を保持）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6355080" y="2720340"/>
            <a:ext cx="1257300" cy="75438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55080" y="3474720"/>
            <a:ext cx="1257300" cy="75438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7612380" y="2343150"/>
            <a:ext cx="1257300" cy="37719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12380" y="2720340"/>
            <a:ext cx="1257300" cy="37719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612380" y="3851910"/>
            <a:ext cx="1257300" cy="37719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12380" y="4229100"/>
            <a:ext cx="1257300" cy="37719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869680" y="2343150"/>
            <a:ext cx="1257300" cy="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69680" y="2343150"/>
            <a:ext cx="1257300" cy="75438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69680" y="3851910"/>
            <a:ext cx="1257300" cy="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69680" y="3851910"/>
            <a:ext cx="1257300" cy="754380"/>
          </a:xfrm>
          <a:prstGeom prst="line">
            <a:avLst/>
          </a:prstGeom>
          <a:ln w="12700">
            <a:solidFill>
              <a:srgbClr val="2A32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126980" y="2720340"/>
            <a:ext cx="1257300" cy="1131570"/>
          </a:xfrm>
          <a:prstGeom prst="line">
            <a:avLst/>
          </a:prstGeom>
          <a:ln w="30480">
            <a:solidFill>
              <a:srgbClr val="4ADE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126980" y="2343150"/>
            <a:ext cx="1257300" cy="1885950"/>
          </a:xfrm>
          <a:prstGeom prst="line">
            <a:avLst/>
          </a:prstGeom>
          <a:ln w="12700">
            <a:solidFill>
              <a:srgbClr val="4652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980176" y="329184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37476" y="2537460"/>
            <a:ext cx="749808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猫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7476" y="288493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55%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37476" y="404622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7476" y="439369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45%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94776" y="2160270"/>
            <a:ext cx="749808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94776" y="250774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50%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94776" y="291465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4776" y="326212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6%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94776" y="366903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は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94776" y="401650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40%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94776" y="442341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4776" y="477088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5%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52076" y="2160270"/>
            <a:ext cx="749808" cy="36576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寝る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52076" y="250774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25%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52076" y="291465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鳴く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52076" y="326212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25%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52076" y="3669030"/>
            <a:ext cx="749808" cy="36576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走る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52076" y="401650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38%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52076" y="4423410"/>
            <a:ext cx="749808" cy="365760"/>
          </a:xfrm>
          <a:prstGeom prst="roundRect">
            <a:avLst/>
          </a:prstGeom>
          <a:solidFill>
            <a:srgbClr val="394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E6ECF5"/>
                </a:solidFill>
                <a:latin typeface="Meiryo"/>
              </a:rPr>
              <a:t>吠える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52076" y="477088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9AA6BD"/>
                </a:solidFill>
                <a:latin typeface="Consolas"/>
              </a:rPr>
              <a:t>2%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1009376" y="2537460"/>
            <a:ext cx="749808" cy="365760"/>
          </a:xfrm>
          <a:prstGeom prst="roundRect">
            <a:avLst/>
          </a:prstGeom>
          <a:solidFill>
            <a:srgbClr val="4ADE80"/>
          </a:solidFill>
          <a:ln w="254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09376" y="288493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38%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009376" y="4046220"/>
            <a:ext cx="749808" cy="365760"/>
          </a:xfrm>
          <a:prstGeom prst="roundRect">
            <a:avLst/>
          </a:prstGeom>
          <a:solidFill>
            <a:srgbClr val="2F7FD9"/>
          </a:solidFill>
          <a:ln w="25400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06122A"/>
                </a:solidFill>
                <a:latin typeface="Meiryo"/>
              </a:rPr>
              <a:t>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09376" y="4393692"/>
            <a:ext cx="749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5D6B82"/>
                </a:solidFill>
                <a:latin typeface="Consolas"/>
              </a:rPr>
              <a:t>25%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49834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4ADE80"/>
                </a:solidFill>
                <a:latin typeface="Meiryo"/>
              </a:rPr>
              <a:t>結果：「犬は走る。」 累積 38.5%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5532120"/>
            <a:ext cx="11247120" cy="91440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5650992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A2030"/>
                </a:solidFill>
                <a:latin typeface="Meiryo"/>
              </a:rPr>
              <a:t>k=1 は最初に高確率の「猫」(55%)につられ、全体では 24.8% の文止まり。k=2 は「犬」も残したことで、より良い 38.5% の文を発見。＝ </a:t>
            </a:r>
            <a:r>
              <a:rPr sz="1400" b="1">
                <a:solidFill>
                  <a:srgbClr val="2F7FD9"/>
                </a:solidFill>
                <a:latin typeface="Meiryo"/>
              </a:rPr>
              <a:t>少し広く残すと、より良い文に届く</a:t>
            </a:r>
            <a:r>
              <a:rPr sz="1400" b="0">
                <a:solidFill>
                  <a:srgbClr val="1A2030"/>
                </a:solidFill>
                <a:latin typeface="Meiryo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" y="274320"/>
            <a:ext cx="502920" cy="502920"/>
          </a:xfrm>
          <a:prstGeom prst="roundRect">
            <a:avLst/>
          </a:prstGeom>
          <a:solidFill>
            <a:srgbClr val="2F7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6122A"/>
                </a:solidFill>
                <a:latin typeface="Meiry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A2030"/>
                </a:solidFill>
                <a:latin typeface="Meiryo"/>
              </a:rPr>
              <a:t>まとめと演習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手を動かして確かめよう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今日のポイント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LLM は次の単語を</a:t>
            </a:r>
            <a:r>
              <a:rPr sz="1500" b="1">
                <a:solidFill>
                  <a:srgbClr val="2F7FD9"/>
                </a:solidFill>
                <a:latin typeface="Meiryo"/>
              </a:rPr>
              <a:t>確率</a:t>
            </a:r>
            <a:r>
              <a:rPr sz="1500" b="0">
                <a:solidFill>
                  <a:srgbClr val="1A2030"/>
                </a:solidFill>
                <a:latin typeface="Meiryo"/>
              </a:rPr>
              <a:t>で予想して生成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全部試すと</a:t>
            </a:r>
            <a:r>
              <a:rPr sz="1500" b="1">
                <a:solidFill>
                  <a:srgbClr val="2F7FD9"/>
                </a:solidFill>
                <a:latin typeface="Meiryo"/>
              </a:rPr>
              <a:t>爆発</a:t>
            </a:r>
            <a:r>
              <a:rPr sz="1500" b="0">
                <a:solidFill>
                  <a:srgbClr val="1A2030"/>
                </a:solidFill>
                <a:latin typeface="Meiryo"/>
              </a:rPr>
              <a:t>するので候補を絞る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毎ステップ</a:t>
            </a:r>
            <a:r>
              <a:rPr sz="1500" b="1">
                <a:solidFill>
                  <a:srgbClr val="2F7FD9"/>
                </a:solidFill>
                <a:latin typeface="Meiryo"/>
              </a:rPr>
              <a:t>上位 k 本</a:t>
            </a:r>
            <a:r>
              <a:rPr sz="1500" b="0">
                <a:solidFill>
                  <a:srgbClr val="1A2030"/>
                </a:solidFill>
                <a:latin typeface="Meiryo"/>
              </a:rPr>
              <a:t>だけ残す＝ビーム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</a:t>
            </a:r>
            <a:r>
              <a:rPr sz="1500" b="1">
                <a:solidFill>
                  <a:srgbClr val="2F7FD9"/>
                </a:solidFill>
                <a:latin typeface="Meiryo"/>
              </a:rPr>
              <a:t>k=1 は貪欲法</a:t>
            </a:r>
            <a:r>
              <a:rPr sz="1500" b="0">
                <a:solidFill>
                  <a:srgbClr val="1A2030"/>
                </a:solidFill>
                <a:latin typeface="Meiryo"/>
              </a:rPr>
              <a:t>：速いが最良を逃すことも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・ k を上げると丁寧だが計算は重くなる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演習（ビジュアライザで）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5029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1. k=1 と k=2 で出来る文と累積確率を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見比べよう（わなに注目）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2. k を 3,4 と上げると結果は変わる？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3. 枝刈りで「捨てた」候補が、実は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A2030"/>
                </a:solidFill>
                <a:latin typeface="Meiryo"/>
              </a:rPr>
              <a:t>   良かったケースはある？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2F7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2F7FD9"/>
                </a:solidFill>
                <a:latin typeface="Meiryo"/>
              </a:rPr>
              <a:t>▶ 付属ビジュアライザで体験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A2030"/>
                </a:solidFill>
                <a:latin typeface="Consolas"/>
              </a:rPr>
              <a:t>html/beam.html を開く → ビーム幅 k を設定 → 「次へ」で1語ずつ展開・枝刈り / 残ったビームと累積確率、最終的な最良文をその場で確認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5D6B82"/>
                </a:solidFill>
                <a:latin typeface="Meiryo"/>
              </a:rPr>
              <a:t>「どれを残すか」の工夫が、AI の文章生成の質を決めている。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