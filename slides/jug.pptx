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7863840" y="350520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7863840" y="280416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863840" y="210312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863840" y="420624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63840" y="420624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420624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63840" y="420624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863840" y="210312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350520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50520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50520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63840" y="350520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350520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63840" y="3505200"/>
            <a:ext cx="3383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63840" y="21031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280416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63840" y="280416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280416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280416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280416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210312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210312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2103120"/>
            <a:ext cx="135331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210312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103120"/>
            <a:ext cx="2029968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10312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10312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2103120"/>
            <a:ext cx="3383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540496" y="350520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540496" y="280416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40496" y="210312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40496" y="420624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40496" y="210312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40496" y="350520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540496" y="350520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540496" y="21031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40496" y="2804160"/>
            <a:ext cx="135331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40496" y="280416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40496" y="210312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40496" y="2103120"/>
            <a:ext cx="135331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540496" y="2103120"/>
            <a:ext cx="2029968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40496" y="2103120"/>
            <a:ext cx="270662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17152" y="350520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217152" y="280416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217152" y="420624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217152" y="210312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17152" y="350520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217152" y="350520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217152" y="21031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217152" y="2804160"/>
            <a:ext cx="135331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17152" y="280416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17152" y="210312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17152" y="2103120"/>
            <a:ext cx="135331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17152" y="2103120"/>
            <a:ext cx="202996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893808" y="350520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893808" y="280416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893808" y="210312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893808" y="420624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893808" y="210312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893808" y="350520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893808" y="350520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893808" y="21031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93808" y="2804160"/>
            <a:ext cx="135331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893808" y="280416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93808" y="210312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893808" y="2103120"/>
            <a:ext cx="135331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93808" y="2103120"/>
            <a:ext cx="135331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570464" y="350520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570464" y="280416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570464" y="210312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570464" y="420624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570464" y="210312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570464" y="350520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570464" y="350520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70464" y="21031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570464" y="2804160"/>
            <a:ext cx="67665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570464" y="280416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570464" y="2103120"/>
            <a:ext cx="67665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247120" y="350520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247120" y="280416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1247120" y="210312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247120" y="210312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1247120" y="21031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570464" y="2103120"/>
            <a:ext cx="676656" cy="70104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217152" y="2103120"/>
            <a:ext cx="0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863840" y="2804160"/>
            <a:ext cx="338328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863840" y="2804160"/>
            <a:ext cx="1353312" cy="140208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863840" y="4206240"/>
            <a:ext cx="338328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217152" y="2103120"/>
            <a:ext cx="2029968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7674377" y="4016777"/>
            <a:ext cx="378926" cy="378926"/>
          </a:xfrm>
          <a:prstGeom prst="ellipse">
            <a:avLst/>
          </a:prstGeom>
          <a:solidFill>
            <a:srgbClr val="4ADE80"/>
          </a:solidFill>
          <a:ln w="31750">
            <a:solidFill>
              <a:srgbClr val="28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0,0</a:t>
            </a:r>
          </a:p>
        </p:txBody>
      </p:sp>
      <p:sp>
        <p:nvSpPr>
          <p:cNvPr id="92" name="Oval 91"/>
          <p:cNvSpPr/>
          <p:nvPr/>
        </p:nvSpPr>
        <p:spPr>
          <a:xfrm>
            <a:off x="7674377" y="3315737"/>
            <a:ext cx="378926" cy="378926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0,1</a:t>
            </a:r>
          </a:p>
        </p:txBody>
      </p:sp>
      <p:sp>
        <p:nvSpPr>
          <p:cNvPr id="93" name="Oval 92"/>
          <p:cNvSpPr/>
          <p:nvPr/>
        </p:nvSpPr>
        <p:spPr>
          <a:xfrm>
            <a:off x="7674377" y="2614697"/>
            <a:ext cx="378926" cy="37892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0,2</a:t>
            </a:r>
          </a:p>
        </p:txBody>
      </p:sp>
      <p:sp>
        <p:nvSpPr>
          <p:cNvPr id="94" name="Oval 93"/>
          <p:cNvSpPr/>
          <p:nvPr/>
        </p:nvSpPr>
        <p:spPr>
          <a:xfrm>
            <a:off x="7674377" y="1913657"/>
            <a:ext cx="378926" cy="378926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0,3</a:t>
            </a:r>
          </a:p>
        </p:txBody>
      </p:sp>
      <p:sp>
        <p:nvSpPr>
          <p:cNvPr id="95" name="Oval 94"/>
          <p:cNvSpPr/>
          <p:nvPr/>
        </p:nvSpPr>
        <p:spPr>
          <a:xfrm>
            <a:off x="8351033" y="401677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1,0</a:t>
            </a:r>
          </a:p>
        </p:txBody>
      </p:sp>
      <p:sp>
        <p:nvSpPr>
          <p:cNvPr id="96" name="Oval 95"/>
          <p:cNvSpPr/>
          <p:nvPr/>
        </p:nvSpPr>
        <p:spPr>
          <a:xfrm>
            <a:off x="8351033" y="331573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1,1</a:t>
            </a:r>
          </a:p>
        </p:txBody>
      </p:sp>
      <p:sp>
        <p:nvSpPr>
          <p:cNvPr id="97" name="Oval 96"/>
          <p:cNvSpPr/>
          <p:nvPr/>
        </p:nvSpPr>
        <p:spPr>
          <a:xfrm>
            <a:off x="8351033" y="261469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1,2</a:t>
            </a:r>
          </a:p>
        </p:txBody>
      </p:sp>
      <p:sp>
        <p:nvSpPr>
          <p:cNvPr id="98" name="Oval 97"/>
          <p:cNvSpPr/>
          <p:nvPr/>
        </p:nvSpPr>
        <p:spPr>
          <a:xfrm>
            <a:off x="8351033" y="191365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1,3</a:t>
            </a:r>
          </a:p>
        </p:txBody>
      </p:sp>
      <p:sp>
        <p:nvSpPr>
          <p:cNvPr id="99" name="Oval 98"/>
          <p:cNvSpPr/>
          <p:nvPr/>
        </p:nvSpPr>
        <p:spPr>
          <a:xfrm>
            <a:off x="9027689" y="4016777"/>
            <a:ext cx="378926" cy="37892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2,0</a:t>
            </a:r>
          </a:p>
        </p:txBody>
      </p:sp>
      <p:sp>
        <p:nvSpPr>
          <p:cNvPr id="100" name="Oval 99"/>
          <p:cNvSpPr/>
          <p:nvPr/>
        </p:nvSpPr>
        <p:spPr>
          <a:xfrm>
            <a:off x="9027689" y="331573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2,1</a:t>
            </a:r>
          </a:p>
        </p:txBody>
      </p:sp>
      <p:sp>
        <p:nvSpPr>
          <p:cNvPr id="101" name="Oval 100"/>
          <p:cNvSpPr/>
          <p:nvPr/>
        </p:nvSpPr>
        <p:spPr>
          <a:xfrm>
            <a:off x="9027689" y="261469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2,2</a:t>
            </a:r>
          </a:p>
        </p:txBody>
      </p:sp>
      <p:sp>
        <p:nvSpPr>
          <p:cNvPr id="102" name="Oval 101"/>
          <p:cNvSpPr/>
          <p:nvPr/>
        </p:nvSpPr>
        <p:spPr>
          <a:xfrm>
            <a:off x="9027689" y="1913657"/>
            <a:ext cx="378926" cy="37892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2,3</a:t>
            </a:r>
          </a:p>
        </p:txBody>
      </p:sp>
      <p:sp>
        <p:nvSpPr>
          <p:cNvPr id="103" name="Oval 102"/>
          <p:cNvSpPr/>
          <p:nvPr/>
        </p:nvSpPr>
        <p:spPr>
          <a:xfrm>
            <a:off x="9704345" y="4016777"/>
            <a:ext cx="378926" cy="378926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3,0</a:t>
            </a:r>
          </a:p>
        </p:txBody>
      </p:sp>
      <p:sp>
        <p:nvSpPr>
          <p:cNvPr id="104" name="Oval 103"/>
          <p:cNvSpPr/>
          <p:nvPr/>
        </p:nvSpPr>
        <p:spPr>
          <a:xfrm>
            <a:off x="9704345" y="331573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3,1</a:t>
            </a:r>
          </a:p>
        </p:txBody>
      </p:sp>
      <p:sp>
        <p:nvSpPr>
          <p:cNvPr id="105" name="Oval 104"/>
          <p:cNvSpPr/>
          <p:nvPr/>
        </p:nvSpPr>
        <p:spPr>
          <a:xfrm>
            <a:off x="9704345" y="2614697"/>
            <a:ext cx="378926" cy="378926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3,2</a:t>
            </a:r>
          </a:p>
        </p:txBody>
      </p:sp>
      <p:sp>
        <p:nvSpPr>
          <p:cNvPr id="106" name="Oval 105"/>
          <p:cNvSpPr/>
          <p:nvPr/>
        </p:nvSpPr>
        <p:spPr>
          <a:xfrm>
            <a:off x="9704345" y="1913657"/>
            <a:ext cx="378926" cy="378926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3,3</a:t>
            </a:r>
          </a:p>
        </p:txBody>
      </p:sp>
      <p:sp>
        <p:nvSpPr>
          <p:cNvPr id="107" name="Oval 106"/>
          <p:cNvSpPr/>
          <p:nvPr/>
        </p:nvSpPr>
        <p:spPr>
          <a:xfrm>
            <a:off x="10381001" y="4016777"/>
            <a:ext cx="378926" cy="378926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4,0</a:t>
            </a:r>
          </a:p>
        </p:txBody>
      </p:sp>
      <p:sp>
        <p:nvSpPr>
          <p:cNvPr id="108" name="Oval 107"/>
          <p:cNvSpPr/>
          <p:nvPr/>
        </p:nvSpPr>
        <p:spPr>
          <a:xfrm>
            <a:off x="10381001" y="3315737"/>
            <a:ext cx="378926" cy="378926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4,1</a:t>
            </a:r>
          </a:p>
        </p:txBody>
      </p:sp>
      <p:sp>
        <p:nvSpPr>
          <p:cNvPr id="109" name="Oval 108"/>
          <p:cNvSpPr/>
          <p:nvPr/>
        </p:nvSpPr>
        <p:spPr>
          <a:xfrm>
            <a:off x="10381001" y="2614697"/>
            <a:ext cx="378926" cy="378926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4,2</a:t>
            </a:r>
          </a:p>
        </p:txBody>
      </p:sp>
      <p:sp>
        <p:nvSpPr>
          <p:cNvPr id="110" name="Oval 109"/>
          <p:cNvSpPr/>
          <p:nvPr/>
        </p:nvSpPr>
        <p:spPr>
          <a:xfrm>
            <a:off x="10381001" y="1913657"/>
            <a:ext cx="378926" cy="378926"/>
          </a:xfrm>
          <a:prstGeom prst="ellipse">
            <a:avLst/>
          </a:prstGeom>
          <a:solidFill>
            <a:srgbClr val="4ADE80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4,3</a:t>
            </a:r>
          </a:p>
        </p:txBody>
      </p:sp>
      <p:sp>
        <p:nvSpPr>
          <p:cNvPr id="111" name="Oval 110"/>
          <p:cNvSpPr/>
          <p:nvPr/>
        </p:nvSpPr>
        <p:spPr>
          <a:xfrm>
            <a:off x="11057657" y="4016777"/>
            <a:ext cx="378926" cy="37892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5,0</a:t>
            </a:r>
          </a:p>
        </p:txBody>
      </p:sp>
      <p:sp>
        <p:nvSpPr>
          <p:cNvPr id="112" name="Oval 111"/>
          <p:cNvSpPr/>
          <p:nvPr/>
        </p:nvSpPr>
        <p:spPr>
          <a:xfrm>
            <a:off x="11057657" y="3315737"/>
            <a:ext cx="378926" cy="378926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5,1</a:t>
            </a:r>
          </a:p>
        </p:txBody>
      </p:sp>
      <p:sp>
        <p:nvSpPr>
          <p:cNvPr id="113" name="Oval 112"/>
          <p:cNvSpPr/>
          <p:nvPr/>
        </p:nvSpPr>
        <p:spPr>
          <a:xfrm>
            <a:off x="11057657" y="2614697"/>
            <a:ext cx="378926" cy="37892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5,2</a:t>
            </a:r>
          </a:p>
        </p:txBody>
      </p:sp>
      <p:sp>
        <p:nvSpPr>
          <p:cNvPr id="114" name="Oval 113"/>
          <p:cNvSpPr/>
          <p:nvPr/>
        </p:nvSpPr>
        <p:spPr>
          <a:xfrm>
            <a:off x="11057657" y="1913657"/>
            <a:ext cx="378926" cy="378926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E6ECF5"/>
                </a:solidFill>
                <a:latin typeface="Meiryo"/>
              </a:rPr>
              <a:t>5,3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" y="173736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1A2030"/>
                </a:solidFill>
                <a:latin typeface="Meiryo"/>
              </a:rPr>
              <a:t>水くみ問題で学ぶ探索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2743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F7FD9"/>
                </a:solidFill>
                <a:latin typeface="Meiryo"/>
              </a:rPr>
              <a:t>状態グラフを DFS と BFS でたどる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080" y="3474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D6B82"/>
                </a:solidFill>
                <a:latin typeface="Meiryo"/>
              </a:rPr>
              <a:t>5L と 3L のバケツで、ちょうど 4L を作れる？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Consolas"/>
              </a:rPr>
              <a:t>対応ビジュアライザ:  html/jug.html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バケツ問題とは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5L と 3L のバケツだけで、ちょうど 4L を量る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ルール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目盛りは無い。できるのは下の操作だけ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バケツ A=5L, バケツ B=3L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スタートは (0,0)。どちらかが 4L になれば成功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状態の表し方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今の水量を </a:t>
            </a:r>
            <a:r>
              <a:rPr sz="1500" b="1">
                <a:solidFill>
                  <a:srgbClr val="2F7FD9"/>
                </a:solidFill>
                <a:latin typeface="Meiryo"/>
              </a:rPr>
              <a:t>(Aの水, Bの水)</a:t>
            </a:r>
            <a:r>
              <a:rPr sz="1500" b="0">
                <a:solidFill>
                  <a:srgbClr val="1A2030"/>
                </a:solidFill>
                <a:latin typeface="Meiryo"/>
              </a:rPr>
              <a:t> と書く。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例: (0,0) 空っぽ → 目標 (例 4,0) を目指す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6つの操作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① A を満たす ② B を満たす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③ A を空にする ④ B を空にする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⑤ A→B に移す ⑥ B→A に移す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48132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すべての状態とつながり（状態空間グラフ）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315200" y="405384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15200" y="316992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15200" y="2286000"/>
            <a:ext cx="0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493776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493776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15200" y="493776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0" y="493776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15200" y="4937760"/>
            <a:ext cx="35661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315200" y="228600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0" y="405384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405384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405384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405384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15200" y="405384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4053840"/>
            <a:ext cx="35661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15200" y="228600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15200" y="316992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15200" y="316992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316992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15200" y="316992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15200" y="316992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15200" y="316992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15200" y="3169920"/>
            <a:ext cx="35661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15200" y="228600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15200" y="228600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15200" y="228600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15200" y="228600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15200" y="2286000"/>
            <a:ext cx="2139696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315200" y="228600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15200" y="228600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15200" y="2286000"/>
            <a:ext cx="35661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028432" y="405384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028432" y="316992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028432" y="2286000"/>
            <a:ext cx="0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028432" y="493776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028432" y="228600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028432" y="405384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28432" y="405384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028432" y="228600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028432" y="316992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028432" y="316992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28432" y="228600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28432" y="228600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28432" y="2286000"/>
            <a:ext cx="2139696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028432" y="2286000"/>
            <a:ext cx="285292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741664" y="405384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741664" y="316992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741664" y="2286000"/>
            <a:ext cx="0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741664" y="493776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741664" y="228600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741664" y="405384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41664" y="405384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741664" y="228600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741664" y="316992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741664" y="316992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741664" y="228600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41664" y="228600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741664" y="2286000"/>
            <a:ext cx="2139696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741664" y="2286000"/>
            <a:ext cx="21396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454896" y="405384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454896" y="316992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454896" y="2286000"/>
            <a:ext cx="0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454896" y="493776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454896" y="228600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454896" y="405384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454896" y="405384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454896" y="228600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454896" y="316992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454896" y="316992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454896" y="228600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54896" y="2286000"/>
            <a:ext cx="1426464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454896" y="2286000"/>
            <a:ext cx="142646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168128" y="405384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168128" y="316992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168128" y="2286000"/>
            <a:ext cx="0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168128" y="493776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168128" y="228600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168128" y="405384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168128" y="405384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168128" y="228600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168128" y="316992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168128" y="316992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168128" y="2286000"/>
            <a:ext cx="713232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168128" y="2286000"/>
            <a:ext cx="71323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81360" y="405384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81360" y="316992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81360" y="2286000"/>
            <a:ext cx="0" cy="265176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881360" y="2286000"/>
            <a:ext cx="0" cy="17678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881360" y="2286000"/>
            <a:ext cx="0" cy="8839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7101231" y="4723791"/>
            <a:ext cx="427938" cy="427938"/>
          </a:xfrm>
          <a:prstGeom prst="ellipse">
            <a:avLst/>
          </a:prstGeom>
          <a:solidFill>
            <a:srgbClr val="38445F"/>
          </a:solidFill>
          <a:ln w="31750">
            <a:solidFill>
              <a:srgbClr val="28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0,0</a:t>
            </a:r>
          </a:p>
        </p:txBody>
      </p:sp>
      <p:sp>
        <p:nvSpPr>
          <p:cNvPr id="106" name="Oval 105"/>
          <p:cNvSpPr/>
          <p:nvPr/>
        </p:nvSpPr>
        <p:spPr>
          <a:xfrm>
            <a:off x="7101231" y="383987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0,1</a:t>
            </a:r>
          </a:p>
        </p:txBody>
      </p:sp>
      <p:sp>
        <p:nvSpPr>
          <p:cNvPr id="107" name="Oval 106"/>
          <p:cNvSpPr/>
          <p:nvPr/>
        </p:nvSpPr>
        <p:spPr>
          <a:xfrm>
            <a:off x="7101231" y="295595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0,2</a:t>
            </a:r>
          </a:p>
        </p:txBody>
      </p:sp>
      <p:sp>
        <p:nvSpPr>
          <p:cNvPr id="108" name="Oval 107"/>
          <p:cNvSpPr/>
          <p:nvPr/>
        </p:nvSpPr>
        <p:spPr>
          <a:xfrm>
            <a:off x="7101231" y="207203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0,3</a:t>
            </a:r>
          </a:p>
        </p:txBody>
      </p:sp>
      <p:sp>
        <p:nvSpPr>
          <p:cNvPr id="109" name="Oval 108"/>
          <p:cNvSpPr/>
          <p:nvPr/>
        </p:nvSpPr>
        <p:spPr>
          <a:xfrm>
            <a:off x="7814463" y="472379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1,0</a:t>
            </a:r>
          </a:p>
        </p:txBody>
      </p:sp>
      <p:sp>
        <p:nvSpPr>
          <p:cNvPr id="110" name="Oval 109"/>
          <p:cNvSpPr/>
          <p:nvPr/>
        </p:nvSpPr>
        <p:spPr>
          <a:xfrm>
            <a:off x="7814463" y="383987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1,1</a:t>
            </a:r>
          </a:p>
        </p:txBody>
      </p:sp>
      <p:sp>
        <p:nvSpPr>
          <p:cNvPr id="111" name="Oval 110"/>
          <p:cNvSpPr/>
          <p:nvPr/>
        </p:nvSpPr>
        <p:spPr>
          <a:xfrm>
            <a:off x="7814463" y="295595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1,2</a:t>
            </a:r>
          </a:p>
        </p:txBody>
      </p:sp>
      <p:sp>
        <p:nvSpPr>
          <p:cNvPr id="112" name="Oval 111"/>
          <p:cNvSpPr/>
          <p:nvPr/>
        </p:nvSpPr>
        <p:spPr>
          <a:xfrm>
            <a:off x="7814463" y="207203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1,3</a:t>
            </a:r>
          </a:p>
        </p:txBody>
      </p:sp>
      <p:sp>
        <p:nvSpPr>
          <p:cNvPr id="113" name="Oval 112"/>
          <p:cNvSpPr/>
          <p:nvPr/>
        </p:nvSpPr>
        <p:spPr>
          <a:xfrm>
            <a:off x="8527695" y="472379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2,0</a:t>
            </a:r>
          </a:p>
        </p:txBody>
      </p:sp>
      <p:sp>
        <p:nvSpPr>
          <p:cNvPr id="114" name="Oval 113"/>
          <p:cNvSpPr/>
          <p:nvPr/>
        </p:nvSpPr>
        <p:spPr>
          <a:xfrm>
            <a:off x="8527695" y="383987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2,1</a:t>
            </a:r>
          </a:p>
        </p:txBody>
      </p:sp>
      <p:sp>
        <p:nvSpPr>
          <p:cNvPr id="115" name="Oval 114"/>
          <p:cNvSpPr/>
          <p:nvPr/>
        </p:nvSpPr>
        <p:spPr>
          <a:xfrm>
            <a:off x="8527695" y="295595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2,2</a:t>
            </a:r>
          </a:p>
        </p:txBody>
      </p:sp>
      <p:sp>
        <p:nvSpPr>
          <p:cNvPr id="116" name="Oval 115"/>
          <p:cNvSpPr/>
          <p:nvPr/>
        </p:nvSpPr>
        <p:spPr>
          <a:xfrm>
            <a:off x="8527695" y="207203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2,3</a:t>
            </a:r>
          </a:p>
        </p:txBody>
      </p:sp>
      <p:sp>
        <p:nvSpPr>
          <p:cNvPr id="117" name="Oval 116"/>
          <p:cNvSpPr/>
          <p:nvPr/>
        </p:nvSpPr>
        <p:spPr>
          <a:xfrm>
            <a:off x="9240927" y="472379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3,0</a:t>
            </a:r>
          </a:p>
        </p:txBody>
      </p:sp>
      <p:sp>
        <p:nvSpPr>
          <p:cNvPr id="118" name="Oval 117"/>
          <p:cNvSpPr/>
          <p:nvPr/>
        </p:nvSpPr>
        <p:spPr>
          <a:xfrm>
            <a:off x="9240927" y="383987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3,1</a:t>
            </a:r>
          </a:p>
        </p:txBody>
      </p:sp>
      <p:sp>
        <p:nvSpPr>
          <p:cNvPr id="119" name="Oval 118"/>
          <p:cNvSpPr/>
          <p:nvPr/>
        </p:nvSpPr>
        <p:spPr>
          <a:xfrm>
            <a:off x="9240927" y="295595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3,2</a:t>
            </a:r>
          </a:p>
        </p:txBody>
      </p:sp>
      <p:sp>
        <p:nvSpPr>
          <p:cNvPr id="120" name="Oval 119"/>
          <p:cNvSpPr/>
          <p:nvPr/>
        </p:nvSpPr>
        <p:spPr>
          <a:xfrm>
            <a:off x="9240927" y="207203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3,3</a:t>
            </a:r>
          </a:p>
        </p:txBody>
      </p:sp>
      <p:sp>
        <p:nvSpPr>
          <p:cNvPr id="121" name="Oval 120"/>
          <p:cNvSpPr/>
          <p:nvPr/>
        </p:nvSpPr>
        <p:spPr>
          <a:xfrm>
            <a:off x="9954159" y="4723791"/>
            <a:ext cx="427938" cy="427938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4,0</a:t>
            </a:r>
          </a:p>
        </p:txBody>
      </p:sp>
      <p:sp>
        <p:nvSpPr>
          <p:cNvPr id="122" name="Oval 121"/>
          <p:cNvSpPr/>
          <p:nvPr/>
        </p:nvSpPr>
        <p:spPr>
          <a:xfrm>
            <a:off x="9954159" y="3839871"/>
            <a:ext cx="427938" cy="427938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4,1</a:t>
            </a:r>
          </a:p>
        </p:txBody>
      </p:sp>
      <p:sp>
        <p:nvSpPr>
          <p:cNvPr id="123" name="Oval 122"/>
          <p:cNvSpPr/>
          <p:nvPr/>
        </p:nvSpPr>
        <p:spPr>
          <a:xfrm>
            <a:off x="9954159" y="2955951"/>
            <a:ext cx="427938" cy="427938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4,2</a:t>
            </a:r>
          </a:p>
        </p:txBody>
      </p:sp>
      <p:sp>
        <p:nvSpPr>
          <p:cNvPr id="124" name="Oval 123"/>
          <p:cNvSpPr/>
          <p:nvPr/>
        </p:nvSpPr>
        <p:spPr>
          <a:xfrm>
            <a:off x="9954159" y="2072031"/>
            <a:ext cx="427938" cy="427938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4,3</a:t>
            </a:r>
          </a:p>
        </p:txBody>
      </p:sp>
      <p:sp>
        <p:nvSpPr>
          <p:cNvPr id="125" name="Oval 124"/>
          <p:cNvSpPr/>
          <p:nvPr/>
        </p:nvSpPr>
        <p:spPr>
          <a:xfrm>
            <a:off x="10667391" y="472379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5,0</a:t>
            </a:r>
          </a:p>
        </p:txBody>
      </p:sp>
      <p:sp>
        <p:nvSpPr>
          <p:cNvPr id="126" name="Oval 125"/>
          <p:cNvSpPr/>
          <p:nvPr/>
        </p:nvSpPr>
        <p:spPr>
          <a:xfrm>
            <a:off x="10667391" y="383987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5,1</a:t>
            </a:r>
          </a:p>
        </p:txBody>
      </p:sp>
      <p:sp>
        <p:nvSpPr>
          <p:cNvPr id="127" name="Oval 126"/>
          <p:cNvSpPr/>
          <p:nvPr/>
        </p:nvSpPr>
        <p:spPr>
          <a:xfrm>
            <a:off x="10667391" y="295595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5,2</a:t>
            </a:r>
          </a:p>
        </p:txBody>
      </p:sp>
      <p:sp>
        <p:nvSpPr>
          <p:cNvPr id="128" name="Oval 127"/>
          <p:cNvSpPr/>
          <p:nvPr/>
        </p:nvSpPr>
        <p:spPr>
          <a:xfrm>
            <a:off x="10667391" y="2072031"/>
            <a:ext cx="427938" cy="427938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720840" y="521208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丸 = 状態（全 24 個）、線 = 操作でのつながり。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濃い枠 = スタート (0,0)、紫枠 = 目標の状態。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迷路と同じ「グラフ探索」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状態をたどってスタートからゴールへ。違いは“次にどれを選ぶか”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486400" cy="59436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6B6B"/>
                </a:solidFill>
                <a:latin typeface="Meiryo"/>
              </a:rPr>
              <a:t>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030"/>
                </a:solidFill>
                <a:latin typeface="Meiryo"/>
              </a:rPr>
              <a:t>スタック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選び方 / 性格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最後に入れた候補を選ぶ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→ 1本の手順を奥まで試す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5486400" cy="59436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3619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2F7FD9"/>
                </a:solidFill>
                <a:latin typeface="Meiryo"/>
              </a:rPr>
              <a:t>BFS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030"/>
                </a:solidFill>
                <a:latin typeface="Meiryo"/>
              </a:rPr>
              <a:t>キュー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選び方 / 性格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最初に入れた候補を選ぶ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→ 手数の少ない順に広げる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47120" cy="182880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F7FD9"/>
                </a:solidFill>
                <a:latin typeface="Meiryo"/>
              </a:rPr>
              <a:t>共通の手順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1. スタート (0,0) を入れる   2. 1つ取り出して訪問   3. そこから操作で行ける状態（隣）を入れる   4. ゴールに着くまで繰り返す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取り出し方が </a:t>
            </a:r>
            <a:r>
              <a:rPr sz="1500" b="1">
                <a:solidFill>
                  <a:srgbClr val="2F7FD9"/>
                </a:solidFill>
                <a:latin typeface="Meiryo"/>
              </a:rPr>
              <a:t>スタック（DFS）か キュー（BFS）か</a:t>
            </a:r>
            <a:r>
              <a:rPr sz="1500" b="0">
                <a:solidFill>
                  <a:srgbClr val="1A2030"/>
                </a:solidFill>
                <a:latin typeface="Meiryo"/>
              </a:rPr>
              <a:t> だけで、探索の順番と得られる手数が変わる。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DFS（深さ優先探索）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Depth-First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029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1つの操作を選んだら、行き詰まるまで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どんどん奥の状態へ進む。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見つけた手順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0. (0,0)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1. (0,3)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2. (3,0)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3. (3,3)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4. (5,1)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5. (0,1)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6. (1,0)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7. (1,3)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8. (4,0)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6928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D24A"/>
                </a:solidFill>
                <a:latin typeface="Meiryo"/>
              </a:rPr>
              <a:t>ポイント: 訪問は少ない（9）が、手数は 8 手と遠回りになった。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371600"/>
            <a:ext cx="6035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4630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探索結果 — 訪問 9 状態 / 手数 8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766560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766560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425196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425196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425196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6560" y="425196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0" y="4251960"/>
            <a:ext cx="38404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66560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66560" y="355092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66560" y="355092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66560" y="355092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66560" y="355092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766560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66560" y="284988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284988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66560" y="284988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66560" y="284988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66560" y="284988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66560" y="284988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66560" y="2849880"/>
            <a:ext cx="38404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66560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66560" y="214884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66560" y="214884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66560" y="214884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66560" y="214884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66560" y="214884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66560" y="2148840"/>
            <a:ext cx="38404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34656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34656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534656" y="425196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34656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34656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34656" y="355092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534656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534656" y="284988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34656" y="284988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34656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34656" y="214884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34656" y="214884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302752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302752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302752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302752" y="425196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302752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302752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302752" y="355092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302752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02752" y="284988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302752" y="284988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302752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302752" y="214884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302752" y="2148840"/>
            <a:ext cx="2304288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02752" y="214884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070848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070848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070848" y="425196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070848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070848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070848" y="355092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070848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070848" y="284988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070848" y="284988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070848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070848" y="214884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38944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838944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838944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838944" y="425196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838944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838944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838944" y="355092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838944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38944" y="284988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838944" y="284988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838944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838944" y="214884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607040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607040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607040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07040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07040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70848" y="2148840"/>
            <a:ext cx="0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766560" y="3550920"/>
            <a:ext cx="768096" cy="70104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534656" y="2148840"/>
            <a:ext cx="0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66560" y="2148840"/>
            <a:ext cx="0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766560" y="2148840"/>
            <a:ext cx="2304288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070848" y="2148840"/>
            <a:ext cx="1536192" cy="140208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766560" y="3550920"/>
            <a:ext cx="384048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534656" y="2148840"/>
            <a:ext cx="2304288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6556248" y="4041648"/>
            <a:ext cx="420624" cy="42062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28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0,0</a:t>
            </a:r>
          </a:p>
        </p:txBody>
      </p:sp>
      <p:sp>
        <p:nvSpPr>
          <p:cNvPr id="105" name="Oval 104"/>
          <p:cNvSpPr/>
          <p:nvPr/>
        </p:nvSpPr>
        <p:spPr>
          <a:xfrm>
            <a:off x="6556248" y="334060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0,1</a:t>
            </a:r>
          </a:p>
        </p:txBody>
      </p:sp>
      <p:sp>
        <p:nvSpPr>
          <p:cNvPr id="106" name="Oval 105"/>
          <p:cNvSpPr/>
          <p:nvPr/>
        </p:nvSpPr>
        <p:spPr>
          <a:xfrm>
            <a:off x="6556248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0,2</a:t>
            </a:r>
          </a:p>
        </p:txBody>
      </p:sp>
      <p:sp>
        <p:nvSpPr>
          <p:cNvPr id="107" name="Oval 106"/>
          <p:cNvSpPr/>
          <p:nvPr/>
        </p:nvSpPr>
        <p:spPr>
          <a:xfrm>
            <a:off x="6556248" y="193852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0,3</a:t>
            </a:r>
          </a:p>
        </p:txBody>
      </p:sp>
      <p:sp>
        <p:nvSpPr>
          <p:cNvPr id="108" name="Oval 107"/>
          <p:cNvSpPr/>
          <p:nvPr/>
        </p:nvSpPr>
        <p:spPr>
          <a:xfrm>
            <a:off x="7324344" y="404164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1,0</a:t>
            </a:r>
          </a:p>
        </p:txBody>
      </p:sp>
      <p:sp>
        <p:nvSpPr>
          <p:cNvPr id="109" name="Oval 108"/>
          <p:cNvSpPr/>
          <p:nvPr/>
        </p:nvSpPr>
        <p:spPr>
          <a:xfrm>
            <a:off x="7324344" y="334060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1,1</a:t>
            </a:r>
          </a:p>
        </p:txBody>
      </p:sp>
      <p:sp>
        <p:nvSpPr>
          <p:cNvPr id="110" name="Oval 109"/>
          <p:cNvSpPr/>
          <p:nvPr/>
        </p:nvSpPr>
        <p:spPr>
          <a:xfrm>
            <a:off x="7324344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1,2</a:t>
            </a:r>
          </a:p>
        </p:txBody>
      </p:sp>
      <p:sp>
        <p:nvSpPr>
          <p:cNvPr id="111" name="Oval 110"/>
          <p:cNvSpPr/>
          <p:nvPr/>
        </p:nvSpPr>
        <p:spPr>
          <a:xfrm>
            <a:off x="7324344" y="193852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1,3</a:t>
            </a:r>
          </a:p>
        </p:txBody>
      </p:sp>
      <p:sp>
        <p:nvSpPr>
          <p:cNvPr id="112" name="Oval 111"/>
          <p:cNvSpPr/>
          <p:nvPr/>
        </p:nvSpPr>
        <p:spPr>
          <a:xfrm>
            <a:off x="8092440" y="404164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2,0</a:t>
            </a:r>
          </a:p>
        </p:txBody>
      </p:sp>
      <p:sp>
        <p:nvSpPr>
          <p:cNvPr id="113" name="Oval 112"/>
          <p:cNvSpPr/>
          <p:nvPr/>
        </p:nvSpPr>
        <p:spPr>
          <a:xfrm>
            <a:off x="8092440" y="334060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2,1</a:t>
            </a:r>
          </a:p>
        </p:txBody>
      </p:sp>
      <p:sp>
        <p:nvSpPr>
          <p:cNvPr id="114" name="Oval 113"/>
          <p:cNvSpPr/>
          <p:nvPr/>
        </p:nvSpPr>
        <p:spPr>
          <a:xfrm>
            <a:off x="8092440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2,2</a:t>
            </a:r>
          </a:p>
        </p:txBody>
      </p:sp>
      <p:sp>
        <p:nvSpPr>
          <p:cNvPr id="115" name="Oval 114"/>
          <p:cNvSpPr/>
          <p:nvPr/>
        </p:nvSpPr>
        <p:spPr>
          <a:xfrm>
            <a:off x="8092440" y="193852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2,3</a:t>
            </a:r>
          </a:p>
        </p:txBody>
      </p:sp>
      <p:sp>
        <p:nvSpPr>
          <p:cNvPr id="116" name="Oval 115"/>
          <p:cNvSpPr/>
          <p:nvPr/>
        </p:nvSpPr>
        <p:spPr>
          <a:xfrm>
            <a:off x="8860536" y="404164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3,0</a:t>
            </a:r>
          </a:p>
        </p:txBody>
      </p:sp>
      <p:sp>
        <p:nvSpPr>
          <p:cNvPr id="117" name="Oval 116"/>
          <p:cNvSpPr/>
          <p:nvPr/>
        </p:nvSpPr>
        <p:spPr>
          <a:xfrm>
            <a:off x="8860536" y="334060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3,1</a:t>
            </a:r>
          </a:p>
        </p:txBody>
      </p:sp>
      <p:sp>
        <p:nvSpPr>
          <p:cNvPr id="118" name="Oval 117"/>
          <p:cNvSpPr/>
          <p:nvPr/>
        </p:nvSpPr>
        <p:spPr>
          <a:xfrm>
            <a:off x="8860536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3,2</a:t>
            </a:r>
          </a:p>
        </p:txBody>
      </p:sp>
      <p:sp>
        <p:nvSpPr>
          <p:cNvPr id="119" name="Oval 118"/>
          <p:cNvSpPr/>
          <p:nvPr/>
        </p:nvSpPr>
        <p:spPr>
          <a:xfrm>
            <a:off x="8860536" y="193852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3,3</a:t>
            </a:r>
          </a:p>
        </p:txBody>
      </p:sp>
      <p:sp>
        <p:nvSpPr>
          <p:cNvPr id="120" name="Oval 119"/>
          <p:cNvSpPr/>
          <p:nvPr/>
        </p:nvSpPr>
        <p:spPr>
          <a:xfrm>
            <a:off x="9628632" y="4041648"/>
            <a:ext cx="420624" cy="42062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4,0</a:t>
            </a:r>
          </a:p>
        </p:txBody>
      </p:sp>
      <p:sp>
        <p:nvSpPr>
          <p:cNvPr id="121" name="Oval 120"/>
          <p:cNvSpPr/>
          <p:nvPr/>
        </p:nvSpPr>
        <p:spPr>
          <a:xfrm>
            <a:off x="9628632" y="3340608"/>
            <a:ext cx="420624" cy="42062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4,1</a:t>
            </a:r>
          </a:p>
        </p:txBody>
      </p:sp>
      <p:sp>
        <p:nvSpPr>
          <p:cNvPr id="122" name="Oval 121"/>
          <p:cNvSpPr/>
          <p:nvPr/>
        </p:nvSpPr>
        <p:spPr>
          <a:xfrm>
            <a:off x="9628632" y="2639568"/>
            <a:ext cx="420624" cy="42062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4,2</a:t>
            </a:r>
          </a:p>
        </p:txBody>
      </p:sp>
      <p:sp>
        <p:nvSpPr>
          <p:cNvPr id="123" name="Oval 122"/>
          <p:cNvSpPr/>
          <p:nvPr/>
        </p:nvSpPr>
        <p:spPr>
          <a:xfrm>
            <a:off x="9628632" y="1938528"/>
            <a:ext cx="420624" cy="42062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4,3</a:t>
            </a:r>
          </a:p>
        </p:txBody>
      </p:sp>
      <p:sp>
        <p:nvSpPr>
          <p:cNvPr id="124" name="Oval 123"/>
          <p:cNvSpPr/>
          <p:nvPr/>
        </p:nvSpPr>
        <p:spPr>
          <a:xfrm>
            <a:off x="10396728" y="404164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5,0</a:t>
            </a:r>
          </a:p>
        </p:txBody>
      </p:sp>
      <p:sp>
        <p:nvSpPr>
          <p:cNvPr id="125" name="Oval 124"/>
          <p:cNvSpPr/>
          <p:nvPr/>
        </p:nvSpPr>
        <p:spPr>
          <a:xfrm>
            <a:off x="10396728" y="334060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5,1</a:t>
            </a:r>
          </a:p>
        </p:txBody>
      </p:sp>
      <p:sp>
        <p:nvSpPr>
          <p:cNvPr id="126" name="Oval 125"/>
          <p:cNvSpPr/>
          <p:nvPr/>
        </p:nvSpPr>
        <p:spPr>
          <a:xfrm>
            <a:off x="10396728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5,2</a:t>
            </a:r>
          </a:p>
        </p:txBody>
      </p:sp>
      <p:sp>
        <p:nvSpPr>
          <p:cNvPr id="127" name="Oval 126"/>
          <p:cNvSpPr/>
          <p:nvPr/>
        </p:nvSpPr>
        <p:spPr>
          <a:xfrm>
            <a:off x="10396728" y="193852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5,3</a:t>
            </a:r>
          </a:p>
        </p:txBody>
      </p:sp>
      <p:sp>
        <p:nvSpPr>
          <p:cNvPr id="128" name="Oval 127"/>
          <p:cNvSpPr/>
          <p:nvPr/>
        </p:nvSpPr>
        <p:spPr>
          <a:xfrm>
            <a:off x="5897880" y="4453128"/>
            <a:ext cx="155448" cy="155448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08192" y="44074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訪問</a:t>
            </a:r>
          </a:p>
        </p:txBody>
      </p:sp>
      <p:sp>
        <p:nvSpPr>
          <p:cNvPr id="130" name="Oval 129"/>
          <p:cNvSpPr/>
          <p:nvPr/>
        </p:nvSpPr>
        <p:spPr>
          <a:xfrm>
            <a:off x="6766560" y="4453128"/>
            <a:ext cx="155448" cy="15544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76872" y="44074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経路</a:t>
            </a:r>
          </a:p>
        </p:txBody>
      </p:sp>
      <p:sp>
        <p:nvSpPr>
          <p:cNvPr id="132" name="Oval 131"/>
          <p:cNvSpPr/>
          <p:nvPr/>
        </p:nvSpPr>
        <p:spPr>
          <a:xfrm>
            <a:off x="7635240" y="4453128"/>
            <a:ext cx="155448" cy="155448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845552" y="44074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目標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669280" y="4937760"/>
            <a:ext cx="6035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897880" y="5074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72400" y="507492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スタック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97880" y="53675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探索順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772400" y="5367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奥へ一直線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897880" y="56601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最少手数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772400" y="566013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× 保証なし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BFS（幅優先探索）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Breadth-First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029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スタートから1手で行ける状態、2手で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行ける状態…と近い順に広げる。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見つけた手順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0. (0,0)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1. (5,0)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2. (2,3)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3. (2,0)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4. (0,2)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5. (5,2)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DE80"/>
                </a:solidFill>
                <a:latin typeface="Consolas"/>
              </a:rPr>
              <a:t>6. (4,3)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6928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D24A"/>
                </a:solidFill>
                <a:latin typeface="Meiryo"/>
              </a:rPr>
              <a:t>ポイント: 訪問は多め（13）だが、必ず最少の 6 手で到達できる。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371600"/>
            <a:ext cx="6035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4630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探索結果 — 訪問 13 状態 / 手数 6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766560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766560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66560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425196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425196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6560" y="425196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0" y="425196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66560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66560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66560" y="355092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66560" y="355092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66560" y="355092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66560" y="355092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66560" y="3550920"/>
            <a:ext cx="38404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66560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66560" y="284988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66560" y="284988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66560" y="284988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66560" y="284988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66560" y="284988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66560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66560" y="214884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66560" y="214884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66560" y="214884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66560" y="2148840"/>
            <a:ext cx="2304288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66560" y="214884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66560" y="214884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66560" y="2148840"/>
            <a:ext cx="38404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34656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534656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34656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34656" y="425196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534656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34656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534656" y="355092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534656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34656" y="284988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34656" y="284988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34656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34656" y="214884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34656" y="2148840"/>
            <a:ext cx="2304288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34656" y="2148840"/>
            <a:ext cx="3072384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302752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302752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302752" y="425196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302752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302752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02752" y="355092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302752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302752" y="284988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302752" y="284988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302752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02752" y="214884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02752" y="2148840"/>
            <a:ext cx="2304288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070848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070848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070848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070848" y="425196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070848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070848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070848" y="355092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070848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070848" y="284988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070848" y="284988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070848" y="214884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070848" y="2148840"/>
            <a:ext cx="1536192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070848" y="2148840"/>
            <a:ext cx="1536192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838944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838944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838944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838944" y="425196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838944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38944" y="355092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838944" y="355092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838944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838944" y="2849880"/>
            <a:ext cx="768096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838944" y="284988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838944" y="2148840"/>
            <a:ext cx="768096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607040" y="355092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07040" y="284988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07040" y="2148840"/>
            <a:ext cx="0" cy="21031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07040" y="2148840"/>
            <a:ext cx="0" cy="14020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607040" y="2148840"/>
            <a:ext cx="0" cy="7010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838944" y="2148840"/>
            <a:ext cx="768096" cy="70104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302752" y="2148840"/>
            <a:ext cx="0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766560" y="2849880"/>
            <a:ext cx="384048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766560" y="2849880"/>
            <a:ext cx="1536192" cy="140208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766560" y="4251960"/>
            <a:ext cx="384048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302752" y="2148840"/>
            <a:ext cx="2304288" cy="21031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6556248" y="4041648"/>
            <a:ext cx="420624" cy="42062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28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0,0</a:t>
            </a:r>
          </a:p>
        </p:txBody>
      </p:sp>
      <p:sp>
        <p:nvSpPr>
          <p:cNvPr id="105" name="Oval 104"/>
          <p:cNvSpPr/>
          <p:nvPr/>
        </p:nvSpPr>
        <p:spPr>
          <a:xfrm>
            <a:off x="6556248" y="3340608"/>
            <a:ext cx="420624" cy="42062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0,1</a:t>
            </a:r>
          </a:p>
        </p:txBody>
      </p:sp>
      <p:sp>
        <p:nvSpPr>
          <p:cNvPr id="106" name="Oval 105"/>
          <p:cNvSpPr/>
          <p:nvPr/>
        </p:nvSpPr>
        <p:spPr>
          <a:xfrm>
            <a:off x="6556248" y="263956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0,2</a:t>
            </a:r>
          </a:p>
        </p:txBody>
      </p:sp>
      <p:sp>
        <p:nvSpPr>
          <p:cNvPr id="107" name="Oval 106"/>
          <p:cNvSpPr/>
          <p:nvPr/>
        </p:nvSpPr>
        <p:spPr>
          <a:xfrm>
            <a:off x="6556248" y="1938528"/>
            <a:ext cx="420624" cy="42062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0,3</a:t>
            </a:r>
          </a:p>
        </p:txBody>
      </p:sp>
      <p:sp>
        <p:nvSpPr>
          <p:cNvPr id="108" name="Oval 107"/>
          <p:cNvSpPr/>
          <p:nvPr/>
        </p:nvSpPr>
        <p:spPr>
          <a:xfrm>
            <a:off x="7324344" y="404164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1,0</a:t>
            </a:r>
          </a:p>
        </p:txBody>
      </p:sp>
      <p:sp>
        <p:nvSpPr>
          <p:cNvPr id="109" name="Oval 108"/>
          <p:cNvSpPr/>
          <p:nvPr/>
        </p:nvSpPr>
        <p:spPr>
          <a:xfrm>
            <a:off x="7324344" y="334060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1,1</a:t>
            </a:r>
          </a:p>
        </p:txBody>
      </p:sp>
      <p:sp>
        <p:nvSpPr>
          <p:cNvPr id="110" name="Oval 109"/>
          <p:cNvSpPr/>
          <p:nvPr/>
        </p:nvSpPr>
        <p:spPr>
          <a:xfrm>
            <a:off x="7324344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1,2</a:t>
            </a:r>
          </a:p>
        </p:txBody>
      </p:sp>
      <p:sp>
        <p:nvSpPr>
          <p:cNvPr id="111" name="Oval 110"/>
          <p:cNvSpPr/>
          <p:nvPr/>
        </p:nvSpPr>
        <p:spPr>
          <a:xfrm>
            <a:off x="7324344" y="193852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1,3</a:t>
            </a:r>
          </a:p>
        </p:txBody>
      </p:sp>
      <p:sp>
        <p:nvSpPr>
          <p:cNvPr id="112" name="Oval 111"/>
          <p:cNvSpPr/>
          <p:nvPr/>
        </p:nvSpPr>
        <p:spPr>
          <a:xfrm>
            <a:off x="8092440" y="404164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2,0</a:t>
            </a:r>
          </a:p>
        </p:txBody>
      </p:sp>
      <p:sp>
        <p:nvSpPr>
          <p:cNvPr id="113" name="Oval 112"/>
          <p:cNvSpPr/>
          <p:nvPr/>
        </p:nvSpPr>
        <p:spPr>
          <a:xfrm>
            <a:off x="8092440" y="334060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2,1</a:t>
            </a:r>
          </a:p>
        </p:txBody>
      </p:sp>
      <p:sp>
        <p:nvSpPr>
          <p:cNvPr id="114" name="Oval 113"/>
          <p:cNvSpPr/>
          <p:nvPr/>
        </p:nvSpPr>
        <p:spPr>
          <a:xfrm>
            <a:off x="8092440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2,2</a:t>
            </a:r>
          </a:p>
        </p:txBody>
      </p:sp>
      <p:sp>
        <p:nvSpPr>
          <p:cNvPr id="115" name="Oval 114"/>
          <p:cNvSpPr/>
          <p:nvPr/>
        </p:nvSpPr>
        <p:spPr>
          <a:xfrm>
            <a:off x="8092440" y="193852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2,3</a:t>
            </a:r>
          </a:p>
        </p:txBody>
      </p:sp>
      <p:sp>
        <p:nvSpPr>
          <p:cNvPr id="116" name="Oval 115"/>
          <p:cNvSpPr/>
          <p:nvPr/>
        </p:nvSpPr>
        <p:spPr>
          <a:xfrm>
            <a:off x="8860536" y="4041648"/>
            <a:ext cx="420624" cy="42062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3,0</a:t>
            </a:r>
          </a:p>
        </p:txBody>
      </p:sp>
      <p:sp>
        <p:nvSpPr>
          <p:cNvPr id="117" name="Oval 116"/>
          <p:cNvSpPr/>
          <p:nvPr/>
        </p:nvSpPr>
        <p:spPr>
          <a:xfrm>
            <a:off x="8860536" y="334060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3,1</a:t>
            </a:r>
          </a:p>
        </p:txBody>
      </p:sp>
      <p:sp>
        <p:nvSpPr>
          <p:cNvPr id="118" name="Oval 117"/>
          <p:cNvSpPr/>
          <p:nvPr/>
        </p:nvSpPr>
        <p:spPr>
          <a:xfrm>
            <a:off x="8860536" y="2639568"/>
            <a:ext cx="420624" cy="42062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3,2</a:t>
            </a:r>
          </a:p>
        </p:txBody>
      </p:sp>
      <p:sp>
        <p:nvSpPr>
          <p:cNvPr id="119" name="Oval 118"/>
          <p:cNvSpPr/>
          <p:nvPr/>
        </p:nvSpPr>
        <p:spPr>
          <a:xfrm>
            <a:off x="8860536" y="1938528"/>
            <a:ext cx="420624" cy="42062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3,3</a:t>
            </a:r>
          </a:p>
        </p:txBody>
      </p:sp>
      <p:sp>
        <p:nvSpPr>
          <p:cNvPr id="120" name="Oval 119"/>
          <p:cNvSpPr/>
          <p:nvPr/>
        </p:nvSpPr>
        <p:spPr>
          <a:xfrm>
            <a:off x="9628632" y="4041648"/>
            <a:ext cx="420624" cy="42062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4,0</a:t>
            </a:r>
          </a:p>
        </p:txBody>
      </p:sp>
      <p:sp>
        <p:nvSpPr>
          <p:cNvPr id="121" name="Oval 120"/>
          <p:cNvSpPr/>
          <p:nvPr/>
        </p:nvSpPr>
        <p:spPr>
          <a:xfrm>
            <a:off x="9628632" y="3340608"/>
            <a:ext cx="420624" cy="42062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4,1</a:t>
            </a:r>
          </a:p>
        </p:txBody>
      </p:sp>
      <p:sp>
        <p:nvSpPr>
          <p:cNvPr id="122" name="Oval 121"/>
          <p:cNvSpPr/>
          <p:nvPr/>
        </p:nvSpPr>
        <p:spPr>
          <a:xfrm>
            <a:off x="9628632" y="2639568"/>
            <a:ext cx="420624" cy="42062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4,2</a:t>
            </a:r>
          </a:p>
        </p:txBody>
      </p:sp>
      <p:sp>
        <p:nvSpPr>
          <p:cNvPr id="123" name="Oval 122"/>
          <p:cNvSpPr/>
          <p:nvPr/>
        </p:nvSpPr>
        <p:spPr>
          <a:xfrm>
            <a:off x="9628632" y="1938528"/>
            <a:ext cx="420624" cy="42062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4,3</a:t>
            </a:r>
          </a:p>
        </p:txBody>
      </p:sp>
      <p:sp>
        <p:nvSpPr>
          <p:cNvPr id="124" name="Oval 123"/>
          <p:cNvSpPr/>
          <p:nvPr/>
        </p:nvSpPr>
        <p:spPr>
          <a:xfrm>
            <a:off x="10396728" y="404164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5,0</a:t>
            </a:r>
          </a:p>
        </p:txBody>
      </p:sp>
      <p:sp>
        <p:nvSpPr>
          <p:cNvPr id="125" name="Oval 124"/>
          <p:cNvSpPr/>
          <p:nvPr/>
        </p:nvSpPr>
        <p:spPr>
          <a:xfrm>
            <a:off x="10396728" y="3340608"/>
            <a:ext cx="420624" cy="42062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5,1</a:t>
            </a:r>
          </a:p>
        </p:txBody>
      </p:sp>
      <p:sp>
        <p:nvSpPr>
          <p:cNvPr id="126" name="Oval 125"/>
          <p:cNvSpPr/>
          <p:nvPr/>
        </p:nvSpPr>
        <p:spPr>
          <a:xfrm>
            <a:off x="10396728" y="2639568"/>
            <a:ext cx="420624" cy="42062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6122A"/>
                </a:solidFill>
                <a:latin typeface="Meiryo"/>
              </a:rPr>
              <a:t>5,2</a:t>
            </a:r>
          </a:p>
        </p:txBody>
      </p:sp>
      <p:sp>
        <p:nvSpPr>
          <p:cNvPr id="127" name="Oval 126"/>
          <p:cNvSpPr/>
          <p:nvPr/>
        </p:nvSpPr>
        <p:spPr>
          <a:xfrm>
            <a:off x="10396728" y="1938528"/>
            <a:ext cx="420624" cy="42062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E6ECF5"/>
                </a:solidFill>
                <a:latin typeface="Meiryo"/>
              </a:rPr>
              <a:t>5,3</a:t>
            </a:r>
          </a:p>
        </p:txBody>
      </p:sp>
      <p:sp>
        <p:nvSpPr>
          <p:cNvPr id="128" name="Oval 127"/>
          <p:cNvSpPr/>
          <p:nvPr/>
        </p:nvSpPr>
        <p:spPr>
          <a:xfrm>
            <a:off x="5897880" y="4453128"/>
            <a:ext cx="155448" cy="155448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08192" y="44074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訪問</a:t>
            </a:r>
          </a:p>
        </p:txBody>
      </p:sp>
      <p:sp>
        <p:nvSpPr>
          <p:cNvPr id="130" name="Oval 129"/>
          <p:cNvSpPr/>
          <p:nvPr/>
        </p:nvSpPr>
        <p:spPr>
          <a:xfrm>
            <a:off x="6766560" y="4453128"/>
            <a:ext cx="155448" cy="15544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76872" y="44074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経路</a:t>
            </a:r>
          </a:p>
        </p:txBody>
      </p:sp>
      <p:sp>
        <p:nvSpPr>
          <p:cNvPr id="132" name="Oval 131"/>
          <p:cNvSpPr/>
          <p:nvPr/>
        </p:nvSpPr>
        <p:spPr>
          <a:xfrm>
            <a:off x="7635240" y="4453128"/>
            <a:ext cx="155448" cy="155448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845552" y="44074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目標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669280" y="4937760"/>
            <a:ext cx="6035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897880" y="5074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72400" y="507492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キュー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97880" y="53675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探索順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772400" y="5367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近い手数から順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897880" y="56601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最少手数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772400" y="566013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○ 最少手数を保証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DFS と BFS を比べる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同じ問題でも、得られる手数が違う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56692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D6B82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6B6B"/>
                          </a:solidFill>
                          <a:latin typeface="Meiryo"/>
                        </a:rPr>
                        <a:t>DFS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7FD9"/>
                          </a:solidFill>
                          <a:latin typeface="Meiryo"/>
                        </a:rPr>
                        <a:t>BFS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D6B82"/>
                          </a:solidFill>
                          <a:latin typeface="Meiryo"/>
                        </a:rPr>
                        <a:t>データ構造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スタック</a:t>
                      </a:r>
                    </a:p>
                  </a:txBody>
                  <a:tcPr marL="9144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キュー</a:t>
                      </a:r>
                    </a:p>
                  </a:txBody>
                  <a:tcPr marL="91440" marR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D6B82"/>
                          </a:solidFill>
                          <a:latin typeface="Meiryo"/>
                        </a:rPr>
                        <a:t>探索順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奥へ一直線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近い手数から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D6B82"/>
                          </a:solidFill>
                          <a:latin typeface="Meiryo"/>
                        </a:rPr>
                        <a:t>訪問した状態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9</a:t>
                      </a:r>
                    </a:p>
                  </a:txBody>
                  <a:tcPr marL="9144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13</a:t>
                      </a:r>
                    </a:p>
                  </a:txBody>
                  <a:tcPr marL="91440" marR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D6B82"/>
                          </a:solidFill>
                          <a:latin typeface="Meiryo"/>
                        </a:rPr>
                        <a:t>見つけた手数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8 手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30"/>
                          </a:solidFill>
                          <a:latin typeface="Meiryo"/>
                        </a:rPr>
                        <a:t>6 手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D6B82"/>
                          </a:solidFill>
                          <a:latin typeface="Meiryo"/>
                        </a:rPr>
                        <a:t>最少手数</a:t>
                      </a:r>
                    </a:p>
                  </a:txBody>
                  <a:tcPr marL="91440" marR="4572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D6B82"/>
                          </a:solidFill>
                          <a:latin typeface="Meiryo"/>
                        </a:rPr>
                        <a:t>× 保証なし</a:t>
                      </a:r>
                    </a:p>
                  </a:txBody>
                  <a:tcPr marL="9144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ADE80"/>
                          </a:solidFill>
                          <a:latin typeface="Meiryo"/>
                        </a:rPr>
                        <a:t>○ 保証あり</a:t>
                      </a:r>
                    </a:p>
                  </a:txBody>
                  <a:tcPr marL="91440" marR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1417320"/>
            <a:ext cx="53035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6B6B"/>
                </a:solidFill>
                <a:latin typeface="Meiryo"/>
              </a:rPr>
              <a:t>DFS（8手・遠回り）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94944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320040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49440" y="320040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320040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320040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3200400"/>
            <a:ext cx="182880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4944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280416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280416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49440" y="280416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280416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94944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49440" y="240792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49440" y="240792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9440" y="240792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240792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240792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49440" y="240792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49440" y="2407920"/>
            <a:ext cx="182880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49440" y="201168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49440" y="201168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49440" y="201168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49440" y="201168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49440" y="201168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49440" y="2011680"/>
            <a:ext cx="182880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31520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31520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15200" y="320040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31520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1520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15200" y="280416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31520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315200" y="240792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15200" y="240792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1520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315200" y="201168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315200" y="201168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68096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68096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68096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80960" y="320040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68096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68096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80960" y="280416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68096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680960" y="240792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680960" y="240792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68096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680960" y="201168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680960" y="2011680"/>
            <a:ext cx="109728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680960" y="201168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04672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04672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46720" y="320040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04672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04672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046720" y="280416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04672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46720" y="240792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46720" y="240792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04672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046720" y="201168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41248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41248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41248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12480" y="320040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41248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1248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412480" y="280416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41248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412480" y="240792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412480" y="240792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41248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12480" y="201168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77824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77824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77824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77824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77824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046720" y="2011680"/>
            <a:ext cx="0" cy="11887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949440" y="2804160"/>
            <a:ext cx="365760" cy="39624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315200" y="2011680"/>
            <a:ext cx="0" cy="11887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949440" y="2011680"/>
            <a:ext cx="0" cy="11887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949440" y="2011680"/>
            <a:ext cx="1097280" cy="11887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046720" y="2011680"/>
            <a:ext cx="731520" cy="79248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949440" y="2804160"/>
            <a:ext cx="182880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315200" y="2011680"/>
            <a:ext cx="1097280" cy="11887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6854343" y="3105303"/>
            <a:ext cx="190194" cy="19019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28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854343" y="270906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85434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854343" y="191658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220103" y="310530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220103" y="270906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22010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220103" y="191658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585863" y="310530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585863" y="270906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58586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585863" y="191658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1623" y="310530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951623" y="270906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95162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951623" y="191658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317383" y="3105303"/>
            <a:ext cx="190194" cy="19019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317383" y="2709063"/>
            <a:ext cx="190194" cy="19019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317383" y="2312823"/>
            <a:ext cx="190194" cy="19019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317383" y="1916583"/>
            <a:ext cx="190194" cy="19019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683143" y="310530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683143" y="270906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68314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683143" y="191658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35440" y="15087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F7FD9"/>
                </a:solidFill>
                <a:latin typeface="Meiryo"/>
              </a:rPr>
              <a:t>BFS（6手・最少）</a:t>
            </a:r>
          </a:p>
        </p:txBody>
      </p:sp>
      <p:cxnSp>
        <p:nvCxnSpPr>
          <p:cNvPr id="124" name="Connector 123"/>
          <p:cNvCxnSpPr/>
          <p:nvPr/>
        </p:nvCxnSpPr>
        <p:spPr>
          <a:xfrm flipV="1">
            <a:off x="960120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60120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60120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601200" y="320040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601200" y="320040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601200" y="320040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601200" y="320040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60120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60120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601200" y="280416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601200" y="280416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601200" y="280416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601200" y="280416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601200" y="2804160"/>
            <a:ext cx="182880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60120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601200" y="240792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601200" y="240792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601200" y="240792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601200" y="240792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601200" y="240792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60120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601200" y="201168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601200" y="201168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601200" y="201168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9601200" y="2011680"/>
            <a:ext cx="109728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601200" y="201168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601200" y="201168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601200" y="2011680"/>
            <a:ext cx="182880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96696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96696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96696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966960" y="320040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96696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96696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966960" y="280416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6696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9966960" y="240792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966960" y="240792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996696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9966960" y="201168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9966960" y="2011680"/>
            <a:ext cx="109728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966960" y="2011680"/>
            <a:ext cx="146304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33272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3272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332720" y="320040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33272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33272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332720" y="280416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33272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332720" y="240792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332720" y="240792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33272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332720" y="201168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332720" y="2011680"/>
            <a:ext cx="109728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69848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69848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69848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698480" y="320040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69848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069848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0698480" y="280416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69848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698480" y="240792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698480" y="240792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0698480" y="201168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0698480" y="2011680"/>
            <a:ext cx="73152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0698480" y="2011680"/>
            <a:ext cx="73152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06424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06424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06424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1064240" y="320040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06424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1064240" y="280416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1064240" y="280416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106424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11064240" y="2407920"/>
            <a:ext cx="36576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1064240" y="240792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1064240" y="2011680"/>
            <a:ext cx="365760" cy="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1430000" y="280416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1430000" y="240792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1430000" y="2011680"/>
            <a:ext cx="0" cy="118872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1430000" y="2011680"/>
            <a:ext cx="0" cy="79248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1430000" y="2011680"/>
            <a:ext cx="0" cy="396240"/>
          </a:xfrm>
          <a:prstGeom prst="line">
            <a:avLst/>
          </a:prstGeom>
          <a:ln w="9525">
            <a:solidFill>
              <a:srgbClr val="4A56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1064240" y="2011680"/>
            <a:ext cx="365760" cy="39624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0332720" y="2011680"/>
            <a:ext cx="0" cy="11887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601200" y="2407920"/>
            <a:ext cx="182880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601200" y="2407920"/>
            <a:ext cx="731520" cy="79248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601200" y="3200400"/>
            <a:ext cx="1828800" cy="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332720" y="2011680"/>
            <a:ext cx="1097280" cy="1188720"/>
          </a:xfrm>
          <a:prstGeom prst="line">
            <a:avLst/>
          </a:prstGeom>
          <a:ln w="34925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Oval 212"/>
          <p:cNvSpPr/>
          <p:nvPr/>
        </p:nvSpPr>
        <p:spPr>
          <a:xfrm>
            <a:off x="9506103" y="3105303"/>
            <a:ext cx="190194" cy="19019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28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506103" y="2709063"/>
            <a:ext cx="190194" cy="19019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506103" y="231282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506103" y="1916583"/>
            <a:ext cx="190194" cy="19019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1863" y="310530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1863" y="270906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186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1863" y="191658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237623" y="310530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237623" y="270906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23762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237623" y="191658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603383" y="3105303"/>
            <a:ext cx="190194" cy="19019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03383" y="270906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603383" y="2312823"/>
            <a:ext cx="190194" cy="190194"/>
          </a:xfrm>
          <a:prstGeom prst="ellipse">
            <a:avLst/>
          </a:prstGeom>
          <a:solidFill>
            <a:srgbClr val="38445F"/>
          </a:solidFill>
          <a:ln w="12700">
            <a:solidFill>
              <a:srgbClr val="4A5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603383" y="1916583"/>
            <a:ext cx="190194" cy="19019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969143" y="3105303"/>
            <a:ext cx="190194" cy="19019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969143" y="2709063"/>
            <a:ext cx="190194" cy="19019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969143" y="2312823"/>
            <a:ext cx="190194" cy="190194"/>
          </a:xfrm>
          <a:prstGeom prst="ellipse">
            <a:avLst/>
          </a:prstGeom>
          <a:solidFill>
            <a:srgbClr val="38445F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969143" y="1916583"/>
            <a:ext cx="190194" cy="190194"/>
          </a:xfrm>
          <a:prstGeom prst="ellipse">
            <a:avLst/>
          </a:prstGeom>
          <a:solidFill>
            <a:srgbClr val="4ADE80"/>
          </a:solidFill>
          <a:ln w="317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1334903" y="310530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334903" y="2709063"/>
            <a:ext cx="190194" cy="19019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1334903" y="2312823"/>
            <a:ext cx="190194" cy="190194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1334903" y="1916583"/>
            <a:ext cx="190194" cy="190194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583680" y="356616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BFS は手数の少ない状態から調べるので、</a:t>
            </a:r>
            <a:r>
              <a:rPr sz="1400" b="1">
                <a:solidFill>
                  <a:srgbClr val="2F7FD9"/>
                </a:solidFill>
                <a:latin typeface="Meiryo"/>
              </a:rPr>
              <a:t>必ず最少手数</a:t>
            </a:r>
            <a:r>
              <a:rPr sz="1400" b="0">
                <a:solidFill>
                  <a:srgbClr val="1A2030"/>
                </a:solidFill>
                <a:latin typeface="Meiryo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DFS は奥へ突き進むため、訪問は少なくても </a:t>
            </a:r>
            <a:r>
              <a:rPr sz="1400" b="1">
                <a:solidFill>
                  <a:srgbClr val="2F7FD9"/>
                </a:solidFill>
                <a:latin typeface="Meiryo"/>
              </a:rPr>
              <a:t>遠回りの手順</a:t>
            </a:r>
            <a:r>
              <a:rPr sz="1400" b="0">
                <a:solidFill>
                  <a:srgbClr val="1A2030"/>
                </a:solidFill>
                <a:latin typeface="Meiryo"/>
              </a:rPr>
              <a:t>になりやすい。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57200" y="539496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D6B82"/>
                </a:solidFill>
                <a:latin typeface="Meiryo"/>
              </a:rPr>
              <a:t>※ どちらも「Aが4L」を達成。BFS は (4,3)、DFS は (4,0) に到達した。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まとめと演習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手を動かして確かめよう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今日のポイント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パズルも </a:t>
            </a:r>
            <a:r>
              <a:rPr sz="1500" b="1">
                <a:solidFill>
                  <a:srgbClr val="2F7FD9"/>
                </a:solidFill>
                <a:latin typeface="Meiryo"/>
              </a:rPr>
              <a:t>状態（ノード）と操作（エッジ）</a:t>
            </a:r>
            <a:r>
              <a:rPr sz="1500" b="0">
                <a:solidFill>
                  <a:srgbClr val="1A2030"/>
                </a:solidFill>
                <a:latin typeface="Meiryo"/>
              </a:rPr>
              <a:t> のグラフ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解くこと＝ゴール状態への </a:t>
            </a:r>
            <a:r>
              <a:rPr sz="1500" b="1">
                <a:solidFill>
                  <a:srgbClr val="2F7FD9"/>
                </a:solidFill>
                <a:latin typeface="Meiryo"/>
              </a:rPr>
              <a:t>経路探索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BFS</a:t>
            </a:r>
            <a:r>
              <a:rPr sz="1500" b="0">
                <a:solidFill>
                  <a:srgbClr val="1A2030"/>
                </a:solidFill>
                <a:latin typeface="Meiryo"/>
              </a:rPr>
              <a:t> は最少手数を保証、</a:t>
            </a:r>
            <a:r>
              <a:rPr sz="1500" b="1">
                <a:solidFill>
                  <a:srgbClr val="2F7FD9"/>
                </a:solidFill>
                <a:latin typeface="Meiryo"/>
              </a:rPr>
              <a:t>DFS</a:t>
            </a:r>
            <a:r>
              <a:rPr sz="1500" b="0">
                <a:solidFill>
                  <a:srgbClr val="1A2030"/>
                </a:solidFill>
                <a:latin typeface="Meiryo"/>
              </a:rPr>
              <a:t> はしない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DFS</a:t>
            </a:r>
            <a:r>
              <a:rPr sz="1500" b="0">
                <a:solidFill>
                  <a:srgbClr val="1A2030"/>
                </a:solidFill>
                <a:latin typeface="Meiryo"/>
              </a:rPr>
              <a:t> は訪問が少ないが遠回りもある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迷路でも水くみでも、同じ枠組みで解ける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演習（ビジュアライザで）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1. DFS と BFS の「手数」を見比べよう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2. バケツを A=7, B=5 に変えると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状態（ノード）は何個に増える？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3. 目標を変えると到達できる？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できない目標もある（例: 偶数だけ 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▶ 付属ビジュアライザで体験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Consolas"/>
              </a:rPr>
              <a:t>html/jug.html をブラウザで開く → A・B・目標を設定 → 「次へ」で1手ずつ状態が増えていく / ◀戻るで逆再生 / DFS↔BFS を切り替えて手数を比較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おしまい — 状態グラフが育つ様子を自分の手で動かそう！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